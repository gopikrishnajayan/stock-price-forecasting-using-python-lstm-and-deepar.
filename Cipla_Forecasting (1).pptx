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3" d="100"/>
          <a:sy n="83"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E2761"/>
                </a:solidFill>
                <a:latin typeface="Arial"/>
              </a:defRPr>
            </a:pPr>
            <a:r>
              <a:rPr lang="en-IN" sz="1200" b="0" i="0" u="none" strike="noStrike" dirty="0">
                <a:solidFill>
                  <a:srgbClr val="1E2761"/>
                </a:solidFill>
                <a:latin typeface="Arial"/>
              </a:rPr>
              <a:t>Forecasted Opening Price (₹)</a:t>
            </a:r>
          </a:p>
        </c:rich>
      </c:tx>
      <c:overlay val="0"/>
    </c:title>
    <c:autoTitleDeleted val="0"/>
    <c:plotArea>
      <c:layout/>
      <c:lineChart>
        <c:grouping val="standard"/>
        <c:varyColors val="0"/>
        <c:ser>
          <c:idx val="0"/>
          <c:order val="0"/>
          <c:tx>
            <c:strRef>
              <c:f>Sheet1!$B$1</c:f>
              <c:strCache>
                <c:ptCount val="1"/>
                <c:pt idx="0">
                  <c:v>LSTM</c:v>
                </c:pt>
              </c:strCache>
            </c:strRef>
          </c:tx>
          <c:spPr>
            <a:ln w="38100" cap="flat">
              <a:solidFill>
                <a:srgbClr val="1E2761"/>
              </a:solidFill>
              <a:prstDash val="solid"/>
              <a:round/>
            </a:ln>
            <a:effectLst/>
          </c:spPr>
          <c:marker>
            <c:symbol val="circle"/>
            <c:size val="5"/>
            <c:spPr>
              <a:solidFill>
                <a:srgbClr val="1E2761"/>
              </a:solidFill>
              <a:ln w="9525" cap="flat">
                <a:solidFill>
                  <a:srgbClr val="1E2761"/>
                </a:solidFill>
                <a:prstDash val="solid"/>
                <a:round/>
              </a:ln>
              <a:effectLst/>
            </c:spPr>
          </c:marker>
          <c:cat>
            <c:strRef>
              <c:f>Sheet1!$A$2:$A$8</c:f>
              <c:strCache>
                <c:ptCount val="7"/>
                <c:pt idx="0">
                  <c:v>26-Jun</c:v>
                </c:pt>
                <c:pt idx="1">
                  <c:v>29-Jun</c:v>
                </c:pt>
                <c:pt idx="2">
                  <c:v>30-Jun</c:v>
                </c:pt>
                <c:pt idx="3">
                  <c:v>01-Jul</c:v>
                </c:pt>
                <c:pt idx="4">
                  <c:v>02-Jul</c:v>
                </c:pt>
                <c:pt idx="5">
                  <c:v>03-Jul</c:v>
                </c:pt>
                <c:pt idx="6">
                  <c:v>06-Jul</c:v>
                </c:pt>
              </c:strCache>
            </c:strRef>
          </c:cat>
          <c:val>
            <c:numRef>
              <c:f>Sheet1!$B$2:$B$8</c:f>
              <c:numCache>
                <c:formatCode>General</c:formatCode>
                <c:ptCount val="7"/>
                <c:pt idx="0">
                  <c:v>1399.12</c:v>
                </c:pt>
                <c:pt idx="1">
                  <c:v>1403.99</c:v>
                </c:pt>
                <c:pt idx="2">
                  <c:v>1407.83</c:v>
                </c:pt>
                <c:pt idx="3">
                  <c:v>1410.94</c:v>
                </c:pt>
                <c:pt idx="4">
                  <c:v>1413.56</c:v>
                </c:pt>
                <c:pt idx="5">
                  <c:v>1415.83</c:v>
                </c:pt>
                <c:pt idx="6">
                  <c:v>1417.86</c:v>
                </c:pt>
              </c:numCache>
            </c:numRef>
          </c:val>
          <c:smooth val="0"/>
          <c:extLst>
            <c:ext xmlns:c16="http://schemas.microsoft.com/office/drawing/2014/chart" uri="{C3380CC4-5D6E-409C-BE32-E72D297353CC}">
              <c16:uniqueId val="{00000000-6DCB-4AD6-B72A-F494E3CA3446}"/>
            </c:ext>
          </c:extLst>
        </c:ser>
        <c:ser>
          <c:idx val="1"/>
          <c:order val="1"/>
          <c:tx>
            <c:strRef>
              <c:f>Sheet1!$C$1</c:f>
              <c:strCache>
                <c:ptCount val="1"/>
                <c:pt idx="0">
                  <c:v>DeepAR</c:v>
                </c:pt>
              </c:strCache>
            </c:strRef>
          </c:tx>
          <c:spPr>
            <a:ln w="38100" cap="flat">
              <a:solidFill>
                <a:srgbClr val="00C2A8"/>
              </a:solidFill>
              <a:prstDash val="solid"/>
              <a:round/>
            </a:ln>
            <a:effectLst/>
          </c:spPr>
          <c:marker>
            <c:symbol val="circle"/>
            <c:size val="5"/>
            <c:spPr>
              <a:solidFill>
                <a:srgbClr val="00C2A8"/>
              </a:solidFill>
              <a:ln w="9525" cap="flat">
                <a:solidFill>
                  <a:srgbClr val="00C2A8"/>
                </a:solidFill>
                <a:prstDash val="solid"/>
                <a:round/>
              </a:ln>
              <a:effectLst/>
            </c:spPr>
          </c:marker>
          <c:cat>
            <c:strRef>
              <c:f>Sheet1!$A$2:$A$8</c:f>
              <c:strCache>
                <c:ptCount val="7"/>
                <c:pt idx="0">
                  <c:v>26-Jun</c:v>
                </c:pt>
                <c:pt idx="1">
                  <c:v>29-Jun</c:v>
                </c:pt>
                <c:pt idx="2">
                  <c:v>30-Jun</c:v>
                </c:pt>
                <c:pt idx="3">
                  <c:v>01-Jul</c:v>
                </c:pt>
                <c:pt idx="4">
                  <c:v>02-Jul</c:v>
                </c:pt>
                <c:pt idx="5">
                  <c:v>03-Jul</c:v>
                </c:pt>
                <c:pt idx="6">
                  <c:v>06-Jul</c:v>
                </c:pt>
              </c:strCache>
            </c:strRef>
          </c:cat>
          <c:val>
            <c:numRef>
              <c:f>Sheet1!$C$2:$C$8</c:f>
              <c:numCache>
                <c:formatCode>General</c:formatCode>
                <c:ptCount val="7"/>
                <c:pt idx="0">
                  <c:v>1446.78</c:v>
                </c:pt>
                <c:pt idx="1">
                  <c:v>1428.72</c:v>
                </c:pt>
                <c:pt idx="2">
                  <c:v>1427.8</c:v>
                </c:pt>
                <c:pt idx="3">
                  <c:v>1419.04</c:v>
                </c:pt>
                <c:pt idx="4">
                  <c:v>1445.08</c:v>
                </c:pt>
                <c:pt idx="5">
                  <c:v>1441.08</c:v>
                </c:pt>
                <c:pt idx="6">
                  <c:v>1451.46</c:v>
                </c:pt>
              </c:numCache>
            </c:numRef>
          </c:val>
          <c:smooth val="0"/>
          <c:extLst>
            <c:ext xmlns:c16="http://schemas.microsoft.com/office/drawing/2014/chart" uri="{C3380CC4-5D6E-409C-BE32-E72D297353CC}">
              <c16:uniqueId val="{00000001-6DCB-4AD6-B72A-F494E3CA3446}"/>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9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9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4F7FE"/>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2545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on stock price forecasting using deep learning and probabilistic forecasting techniques. I selected Cipla Limited because it is one of India's largest pharmaceutical companies with a long trading history and stable stock market data. I downloaded the daily closing prices from Yahoo Finance covering January 2018 to June 2026, giving me 2096 trading day observations. The objective of my project was to forecast the next seven trading days using two different models: LSTM and DeepAR, and compare their forecasting performance.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first model, I used a stacked LSTM network. Before training, I normalized the closing prices using MinMaxScaler and divided the dataset into 80 percent training and 20 percent testing. The input to the model was the previous 120 trading days, which were used to predict the next day's closing price. The architecture consists of two LSTM layers with 50 neurons each, followed by dropout layers to reduce overfitting and a dense output layer. The model was trained for 20 epochs using the Adam optimizer with a learning rate of 0.0005. The model achieved an RMSE of 36.94, MAE of 28.33, MAPE of 2 percent, and an R-squared value of 0.865, indicating good predictive performance.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model used in my project was DeepAR. Unlike LSTM, DeepAR predicts daily log returns instead of directly forecasting stock prices. The log returns were later converted back into closing prices for comparison. I implemented DeepAR using the GluonTS library with the PyTorch backend. The model used a context length of 120 trading days and predicted the next seven trading days. It consisted of two recurrent layers with a hidden size of 50, a dropout rate of 20 percent, and a Student-T probability distribution. Since DeepAR predicts returns rather than prices, the evaluation metrics are on a different scale and are not directly comparable with the LSTM metrics.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models successfully forecasted the next 7 trading days. LSTM predicts the closing price directly from historical prices, while DeepAR predicts daily log returns which are then converted back into closing prices. Looking at the results, the DeepAR forecasts are generally higher than the LSTM forecasts over the forecast horizon, though both models indicate a relatively stable to slightly increasing price trend for Cipla over the next seven trading days.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Successfully implemented two forecasting models: LSTM using TensorFlow/Keras and DeepAR using GluonTS with PyTorch. I compared the 7-day forecasts generated by both models. LSTM demonstrated strong performance for direct closing-price prediction, while DeepAR provided a probabilistic forecasting approach based on log returns, offering an alternative perspective on future price movement. Going forward, I plan to enrich the feature set with technical indicators like RSI, MACD, and moving averages, and explore Transformer-based architectures for more advanced sequence modeling.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411480"/>
            <a:ext cx="8686800" cy="365760"/>
          </a:xfrm>
          <a:prstGeom prst="rect">
            <a:avLst/>
          </a:prstGeom>
          <a:noFill/>
          <a:ln/>
        </p:spPr>
        <p:txBody>
          <a:bodyPr wrap="square" rtlCol="0" anchor="ctr"/>
          <a:lstStyle/>
          <a:p>
            <a:pPr marL="0" indent="0">
              <a:buNone/>
            </a:pPr>
            <a:r>
              <a:rPr lang="en-US" sz="1400" b="1" kern="0" spc="300" dirty="0">
                <a:solidFill>
                  <a:srgbClr val="00C2A8"/>
                </a:solidFill>
                <a:latin typeface="Calibri" pitchFamily="34" charset="0"/>
                <a:ea typeface="Calibri" pitchFamily="34" charset="-122"/>
                <a:cs typeface="Calibri" pitchFamily="34" charset="-120"/>
              </a:rPr>
              <a:t>STOCK PRICE FORECASTING</a:t>
            </a:r>
            <a:endParaRPr lang="en-US" sz="1400" dirty="0"/>
          </a:p>
        </p:txBody>
      </p:sp>
      <p:sp>
        <p:nvSpPr>
          <p:cNvPr id="3" name="Text 1"/>
          <p:cNvSpPr/>
          <p:nvPr/>
        </p:nvSpPr>
        <p:spPr>
          <a:xfrm>
            <a:off x="548640" y="713232"/>
            <a:ext cx="9692640" cy="100584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Cipla Ltd.</a:t>
            </a:r>
            <a:r>
              <a:rPr lang="en-US" sz="3400" dirty="0">
                <a:solidFill>
                  <a:srgbClr val="CADCFC"/>
                </a:solidFill>
                <a:latin typeface="Cambria" pitchFamily="34" charset="0"/>
                <a:ea typeface="Cambria" pitchFamily="34" charset="-122"/>
                <a:cs typeface="Cambria" pitchFamily="34" charset="-120"/>
              </a:rPr>
              <a:t> — Using LSTM &amp; DeepAR</a:t>
            </a:r>
            <a:endParaRPr lang="en-US" sz="3400" dirty="0"/>
          </a:p>
        </p:txBody>
      </p:sp>
      <p:sp>
        <p:nvSpPr>
          <p:cNvPr id="4" name="Text 2"/>
          <p:cNvSpPr/>
          <p:nvPr/>
        </p:nvSpPr>
        <p:spPr>
          <a:xfrm>
            <a:off x="548640" y="1600200"/>
            <a:ext cx="8412480" cy="548640"/>
          </a:xfrm>
          <a:prstGeom prst="rect">
            <a:avLst/>
          </a:prstGeom>
          <a:noFill/>
          <a:ln/>
        </p:spPr>
        <p:txBody>
          <a:bodyPr wrap="square"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A comparative deep-learning and probabilistic forecasting study on India's leading pharmaceutical stock (CIPLA.NS)</a:t>
            </a:r>
            <a:endParaRPr lang="en-US" sz="1400" dirty="0"/>
          </a:p>
        </p:txBody>
      </p:sp>
      <p:sp>
        <p:nvSpPr>
          <p:cNvPr id="5" name="Shape 3"/>
          <p:cNvSpPr/>
          <p:nvPr/>
        </p:nvSpPr>
        <p:spPr>
          <a:xfrm>
            <a:off x="548640" y="2331720"/>
            <a:ext cx="5074920" cy="4069080"/>
          </a:xfrm>
          <a:prstGeom prst="roundRect">
            <a:avLst>
              <a:gd name="adj" fmla="val 1798"/>
            </a:avLst>
          </a:prstGeom>
          <a:solidFill>
            <a:srgbClr val="FFFFFF"/>
          </a:solidFill>
          <a:ln/>
          <a:effectLst>
            <a:outerShdw blurRad="101600" dist="38100" dir="2700000" algn="bl" rotWithShape="0">
              <a:srgbClr val="000000">
                <a:alpha val="25000"/>
              </a:srgbClr>
            </a:outerShdw>
          </a:effectLst>
        </p:spPr>
      </p:sp>
      <p:sp>
        <p:nvSpPr>
          <p:cNvPr id="6" name="Text 4"/>
          <p:cNvSpPr/>
          <p:nvPr/>
        </p:nvSpPr>
        <p:spPr>
          <a:xfrm>
            <a:off x="841248" y="2523744"/>
            <a:ext cx="4572000" cy="36576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Company Overview</a:t>
            </a:r>
            <a:endParaRPr lang="en-US" sz="1700" dirty="0"/>
          </a:p>
        </p:txBody>
      </p:sp>
      <p:sp>
        <p:nvSpPr>
          <p:cNvPr id="7" name="Text 5"/>
          <p:cNvSpPr/>
          <p:nvPr/>
        </p:nvSpPr>
        <p:spPr>
          <a:xfrm>
            <a:off x="841248" y="2926080"/>
            <a:ext cx="4572000" cy="1874520"/>
          </a:xfrm>
          <a:prstGeom prst="rect">
            <a:avLst/>
          </a:prstGeom>
          <a:noFill/>
          <a:ln/>
        </p:spPr>
        <p:txBody>
          <a:bodyPr wrap="square" rtlCol="0" anchor="ctr"/>
          <a:lstStyle/>
          <a:p>
            <a:pPr marL="342900" indent="-342900">
              <a:spcAft>
                <a:spcPts val="700"/>
              </a:spcAft>
              <a:buSzPct val="100000"/>
              <a:buChar char="•"/>
            </a:pPr>
            <a:r>
              <a:rPr lang="en-US" sz="1200" dirty="0">
                <a:solidFill>
                  <a:srgbClr val="1E2761"/>
                </a:solidFill>
                <a:latin typeface="Calibri" pitchFamily="34" charset="0"/>
                <a:ea typeface="Calibri" pitchFamily="34" charset="-122"/>
                <a:cs typeface="Calibri" pitchFamily="34" charset="-120"/>
              </a:rPr>
              <a:t>One of India's leading pharmaceutical companies</a:t>
            </a:r>
            <a:endParaRPr lang="en-US" sz="1200" dirty="0"/>
          </a:p>
          <a:p>
            <a:pPr marL="342900" indent="-342900">
              <a:spcAft>
                <a:spcPts val="700"/>
              </a:spcAft>
              <a:buSzPct val="100000"/>
              <a:buChar char="•"/>
            </a:pPr>
            <a:r>
              <a:rPr lang="en-US" sz="1200" dirty="0">
                <a:solidFill>
                  <a:srgbClr val="1E2761"/>
                </a:solidFill>
                <a:latin typeface="Calibri" pitchFamily="34" charset="0"/>
                <a:ea typeface="Calibri" pitchFamily="34" charset="-122"/>
                <a:cs typeface="Calibri" pitchFamily="34" charset="-120"/>
              </a:rPr>
              <a:t>Founded in 1935 by Dr. Khwaja Abdul Hamied</a:t>
            </a:r>
            <a:endParaRPr lang="en-US" sz="1200" dirty="0"/>
          </a:p>
          <a:p>
            <a:pPr marL="342900" indent="-342900">
              <a:spcAft>
                <a:spcPts val="700"/>
              </a:spcAft>
              <a:buSzPct val="100000"/>
              <a:buChar char="•"/>
            </a:pPr>
            <a:r>
              <a:rPr lang="en-US" sz="1200" dirty="0">
                <a:solidFill>
                  <a:srgbClr val="1E2761"/>
                </a:solidFill>
                <a:latin typeface="Calibri" pitchFamily="34" charset="0"/>
                <a:ea typeface="Calibri" pitchFamily="34" charset="-122"/>
                <a:cs typeface="Calibri" pitchFamily="34" charset="-120"/>
              </a:rPr>
              <a:t>Headquarters: Mumbai, Maharashtra</a:t>
            </a:r>
            <a:endParaRPr lang="en-US" sz="1200" dirty="0"/>
          </a:p>
          <a:p>
            <a:pPr marL="342900" indent="-342900">
              <a:spcAft>
                <a:spcPts val="700"/>
              </a:spcAft>
              <a:buSzPct val="100000"/>
              <a:buChar char="•"/>
            </a:pPr>
            <a:r>
              <a:rPr lang="en-US" sz="1200" dirty="0">
                <a:solidFill>
                  <a:srgbClr val="1E2761"/>
                </a:solidFill>
                <a:latin typeface="Calibri" pitchFamily="34" charset="0"/>
                <a:ea typeface="Calibri" pitchFamily="34" charset="-122"/>
                <a:cs typeface="Calibri" pitchFamily="34" charset="-120"/>
              </a:rPr>
              <a:t>Operates in more than 80 countries</a:t>
            </a:r>
            <a:endParaRPr lang="en-US" sz="1200" dirty="0"/>
          </a:p>
          <a:p>
            <a:pPr marL="342900" indent="-342900">
              <a:spcAft>
                <a:spcPts val="700"/>
              </a:spcAft>
              <a:buSzPct val="100000"/>
              <a:buChar char="•"/>
            </a:pPr>
            <a:r>
              <a:rPr lang="en-US" sz="1200" dirty="0">
                <a:solidFill>
                  <a:srgbClr val="1E2761"/>
                </a:solidFill>
                <a:latin typeface="Calibri" pitchFamily="34" charset="0"/>
                <a:ea typeface="Calibri" pitchFamily="34" charset="-122"/>
                <a:cs typeface="Calibri" pitchFamily="34" charset="-120"/>
              </a:rPr>
              <a:t>Listed on NSE (CIPLA.NS) and BSE</a:t>
            </a:r>
            <a:endParaRPr lang="en-US" sz="1200" dirty="0"/>
          </a:p>
          <a:p>
            <a:pPr marL="342900" indent="-342900">
              <a:spcAft>
                <a:spcPts val="700"/>
              </a:spcAft>
              <a:buSzPct val="100000"/>
              <a:buChar char="•"/>
            </a:pPr>
            <a:r>
              <a:rPr lang="en-US" sz="1200" dirty="0">
                <a:solidFill>
                  <a:srgbClr val="1E2761"/>
                </a:solidFill>
                <a:latin typeface="Calibri" pitchFamily="34" charset="0"/>
                <a:ea typeface="Calibri" pitchFamily="34" charset="-122"/>
                <a:cs typeface="Calibri" pitchFamily="34" charset="-120"/>
              </a:rPr>
              <a:t>Long trading history — ideal for time-series forecasting</a:t>
            </a:r>
            <a:endParaRPr lang="en-US" sz="1200" dirty="0"/>
          </a:p>
        </p:txBody>
      </p:sp>
      <p:sp>
        <p:nvSpPr>
          <p:cNvPr id="8" name="Text 6"/>
          <p:cNvSpPr/>
          <p:nvPr/>
        </p:nvSpPr>
        <p:spPr>
          <a:xfrm>
            <a:off x="841248" y="4828032"/>
            <a:ext cx="4572000" cy="256032"/>
          </a:xfrm>
          <a:prstGeom prst="rect">
            <a:avLst/>
          </a:prstGeom>
          <a:noFill/>
          <a:ln/>
        </p:spPr>
        <p:txBody>
          <a:bodyPr wrap="square" rtlCol="0" anchor="ctr"/>
          <a:lstStyle/>
          <a:p>
            <a:pPr marL="0" indent="0">
              <a:buNone/>
            </a:pPr>
            <a:r>
              <a:rPr lang="en-US" sz="1100" b="1" dirty="0">
                <a:solidFill>
                  <a:srgbClr val="5B6B9E"/>
                </a:solidFill>
                <a:latin typeface="Calibri" pitchFamily="34" charset="0"/>
                <a:ea typeface="Calibri" pitchFamily="34" charset="-122"/>
                <a:cs typeface="Calibri" pitchFamily="34" charset="-120"/>
              </a:rPr>
              <a:t>Key Therapeutic Areas</a:t>
            </a:r>
            <a:endParaRPr lang="en-US" sz="1100" dirty="0"/>
          </a:p>
        </p:txBody>
      </p:sp>
      <p:sp>
        <p:nvSpPr>
          <p:cNvPr id="9" name="Shape 7"/>
          <p:cNvSpPr/>
          <p:nvPr/>
        </p:nvSpPr>
        <p:spPr>
          <a:xfrm>
            <a:off x="841248" y="5138928"/>
            <a:ext cx="457200" cy="457200"/>
          </a:xfrm>
          <a:prstGeom prst="ellipse">
            <a:avLst/>
          </a:prstGeom>
          <a:solidFill>
            <a:srgbClr val="1E2761"/>
          </a:solidFill>
          <a:ln/>
        </p:spPr>
      </p:sp>
      <p:pic>
        <p:nvPicPr>
          <p:cNvPr id="10" name="Image 0" descr="preencoded.png"/>
          <p:cNvPicPr>
            <a:picLocks noChangeAspect="1"/>
          </p:cNvPicPr>
          <p:nvPr/>
        </p:nvPicPr>
        <p:blipFill>
          <a:blip r:embed="rId3"/>
          <a:stretch>
            <a:fillRect/>
          </a:stretch>
        </p:blipFill>
        <p:spPr>
          <a:xfrm>
            <a:off x="960120" y="5257800"/>
            <a:ext cx="219456" cy="219456"/>
          </a:xfrm>
          <a:prstGeom prst="rect">
            <a:avLst/>
          </a:prstGeom>
        </p:spPr>
      </p:pic>
      <p:sp>
        <p:nvSpPr>
          <p:cNvPr id="11" name="Text 8"/>
          <p:cNvSpPr/>
          <p:nvPr/>
        </p:nvSpPr>
        <p:spPr>
          <a:xfrm>
            <a:off x="594360" y="5632704"/>
            <a:ext cx="950976" cy="502920"/>
          </a:xfrm>
          <a:prstGeom prst="rect">
            <a:avLst/>
          </a:prstGeom>
          <a:noFill/>
          <a:ln/>
        </p:spPr>
        <p:txBody>
          <a:bodyPr wrap="square" rtlCol="0" anchor="ctr"/>
          <a:lstStyle/>
          <a:p>
            <a:pPr marL="0" indent="0" algn="ctr">
              <a:buNone/>
            </a:pPr>
            <a:r>
              <a:rPr lang="en-US" sz="830" dirty="0">
                <a:solidFill>
                  <a:srgbClr val="1E2761"/>
                </a:solidFill>
                <a:latin typeface="Calibri" pitchFamily="34" charset="0"/>
                <a:ea typeface="Calibri" pitchFamily="34" charset="-122"/>
                <a:cs typeface="Calibri" pitchFamily="34" charset="-120"/>
              </a:rPr>
              <a:t>Respiratory</a:t>
            </a:r>
            <a:endParaRPr lang="en-US" sz="830" dirty="0"/>
          </a:p>
        </p:txBody>
      </p:sp>
      <p:sp>
        <p:nvSpPr>
          <p:cNvPr id="12" name="Shape 9"/>
          <p:cNvSpPr/>
          <p:nvPr/>
        </p:nvSpPr>
        <p:spPr>
          <a:xfrm>
            <a:off x="1755648" y="5138928"/>
            <a:ext cx="457200" cy="457200"/>
          </a:xfrm>
          <a:prstGeom prst="ellipse">
            <a:avLst/>
          </a:prstGeom>
          <a:solidFill>
            <a:srgbClr val="1E2761"/>
          </a:solidFill>
          <a:ln/>
        </p:spPr>
      </p:sp>
      <p:pic>
        <p:nvPicPr>
          <p:cNvPr id="13" name="Image 1" descr="preencoded.png"/>
          <p:cNvPicPr>
            <a:picLocks noChangeAspect="1"/>
          </p:cNvPicPr>
          <p:nvPr/>
        </p:nvPicPr>
        <p:blipFill>
          <a:blip r:embed="rId4"/>
          <a:stretch>
            <a:fillRect/>
          </a:stretch>
        </p:blipFill>
        <p:spPr>
          <a:xfrm>
            <a:off x="1874520" y="5257800"/>
            <a:ext cx="219456" cy="219456"/>
          </a:xfrm>
          <a:prstGeom prst="rect">
            <a:avLst/>
          </a:prstGeom>
        </p:spPr>
      </p:pic>
      <p:sp>
        <p:nvSpPr>
          <p:cNvPr id="14" name="Text 10"/>
          <p:cNvSpPr/>
          <p:nvPr/>
        </p:nvSpPr>
        <p:spPr>
          <a:xfrm>
            <a:off x="1508760" y="5632704"/>
            <a:ext cx="950976" cy="502920"/>
          </a:xfrm>
          <a:prstGeom prst="rect">
            <a:avLst/>
          </a:prstGeom>
          <a:noFill/>
          <a:ln/>
        </p:spPr>
        <p:txBody>
          <a:bodyPr wrap="square" rtlCol="0" anchor="ctr"/>
          <a:lstStyle/>
          <a:p>
            <a:pPr marL="0" indent="0" algn="ctr">
              <a:buNone/>
            </a:pPr>
            <a:r>
              <a:rPr lang="en-US" sz="830" dirty="0">
                <a:solidFill>
                  <a:srgbClr val="1E2761"/>
                </a:solidFill>
                <a:latin typeface="Calibri" pitchFamily="34" charset="0"/>
                <a:ea typeface="Calibri" pitchFamily="34" charset="-122"/>
                <a:cs typeface="Calibri" pitchFamily="34" charset="-120"/>
              </a:rPr>
              <a:t>Cardiology</a:t>
            </a:r>
            <a:endParaRPr lang="en-US" sz="830" dirty="0"/>
          </a:p>
        </p:txBody>
      </p:sp>
      <p:sp>
        <p:nvSpPr>
          <p:cNvPr id="15" name="Shape 11"/>
          <p:cNvSpPr/>
          <p:nvPr/>
        </p:nvSpPr>
        <p:spPr>
          <a:xfrm>
            <a:off x="2670048" y="5138928"/>
            <a:ext cx="457200" cy="457200"/>
          </a:xfrm>
          <a:prstGeom prst="ellipse">
            <a:avLst/>
          </a:prstGeom>
          <a:solidFill>
            <a:srgbClr val="1E2761"/>
          </a:solidFill>
          <a:ln/>
        </p:spPr>
      </p:sp>
      <p:pic>
        <p:nvPicPr>
          <p:cNvPr id="16" name="Image 2" descr="preencoded.png"/>
          <p:cNvPicPr>
            <a:picLocks noChangeAspect="1"/>
          </p:cNvPicPr>
          <p:nvPr/>
        </p:nvPicPr>
        <p:blipFill>
          <a:blip r:embed="rId5"/>
          <a:stretch>
            <a:fillRect/>
          </a:stretch>
        </p:blipFill>
        <p:spPr>
          <a:xfrm>
            <a:off x="2788920" y="5257800"/>
            <a:ext cx="219456" cy="219456"/>
          </a:xfrm>
          <a:prstGeom prst="rect">
            <a:avLst/>
          </a:prstGeom>
        </p:spPr>
      </p:pic>
      <p:sp>
        <p:nvSpPr>
          <p:cNvPr id="17" name="Text 12"/>
          <p:cNvSpPr/>
          <p:nvPr/>
        </p:nvSpPr>
        <p:spPr>
          <a:xfrm>
            <a:off x="2423160" y="5632704"/>
            <a:ext cx="950976" cy="502920"/>
          </a:xfrm>
          <a:prstGeom prst="rect">
            <a:avLst/>
          </a:prstGeom>
          <a:noFill/>
          <a:ln/>
        </p:spPr>
        <p:txBody>
          <a:bodyPr wrap="square" rtlCol="0" anchor="ctr"/>
          <a:lstStyle/>
          <a:p>
            <a:pPr marL="0" indent="0" algn="ctr">
              <a:buNone/>
            </a:pPr>
            <a:r>
              <a:rPr lang="en-US" sz="830" dirty="0">
                <a:solidFill>
                  <a:srgbClr val="1E2761"/>
                </a:solidFill>
                <a:latin typeface="Calibri" pitchFamily="34" charset="0"/>
                <a:ea typeface="Calibri" pitchFamily="34" charset="-122"/>
                <a:cs typeface="Calibri" pitchFamily="34" charset="-120"/>
              </a:rPr>
              <a:t>Oncology</a:t>
            </a:r>
            <a:endParaRPr lang="en-US" sz="830" dirty="0"/>
          </a:p>
        </p:txBody>
      </p:sp>
      <p:sp>
        <p:nvSpPr>
          <p:cNvPr id="18" name="Shape 13"/>
          <p:cNvSpPr/>
          <p:nvPr/>
        </p:nvSpPr>
        <p:spPr>
          <a:xfrm>
            <a:off x="3584448" y="5138928"/>
            <a:ext cx="457200" cy="457200"/>
          </a:xfrm>
          <a:prstGeom prst="ellipse">
            <a:avLst/>
          </a:prstGeom>
          <a:solidFill>
            <a:srgbClr val="1E2761"/>
          </a:solidFill>
          <a:ln/>
        </p:spPr>
      </p:sp>
      <p:pic>
        <p:nvPicPr>
          <p:cNvPr id="19" name="Image 3" descr="preencoded.png"/>
          <p:cNvPicPr>
            <a:picLocks noChangeAspect="1"/>
          </p:cNvPicPr>
          <p:nvPr/>
        </p:nvPicPr>
        <p:blipFill>
          <a:blip r:embed="rId6"/>
          <a:stretch>
            <a:fillRect/>
          </a:stretch>
        </p:blipFill>
        <p:spPr>
          <a:xfrm>
            <a:off x="3703320" y="5257800"/>
            <a:ext cx="219456" cy="219456"/>
          </a:xfrm>
          <a:prstGeom prst="rect">
            <a:avLst/>
          </a:prstGeom>
        </p:spPr>
      </p:pic>
      <p:sp>
        <p:nvSpPr>
          <p:cNvPr id="20" name="Text 14"/>
          <p:cNvSpPr/>
          <p:nvPr/>
        </p:nvSpPr>
        <p:spPr>
          <a:xfrm>
            <a:off x="3337560" y="5632704"/>
            <a:ext cx="950976" cy="502920"/>
          </a:xfrm>
          <a:prstGeom prst="rect">
            <a:avLst/>
          </a:prstGeom>
          <a:noFill/>
          <a:ln/>
        </p:spPr>
        <p:txBody>
          <a:bodyPr wrap="square" rtlCol="0" anchor="ctr"/>
          <a:lstStyle/>
          <a:p>
            <a:pPr marL="0" indent="0" algn="ctr">
              <a:buNone/>
            </a:pPr>
            <a:r>
              <a:rPr lang="en-US" sz="830" dirty="0">
                <a:solidFill>
                  <a:srgbClr val="1E2761"/>
                </a:solidFill>
                <a:latin typeface="Calibri" pitchFamily="34" charset="0"/>
                <a:ea typeface="Calibri" pitchFamily="34" charset="-122"/>
                <a:cs typeface="Calibri" pitchFamily="34" charset="-120"/>
              </a:rPr>
              <a:t>HIV/AIDS</a:t>
            </a:r>
            <a:endParaRPr lang="en-US" sz="830" dirty="0"/>
          </a:p>
        </p:txBody>
      </p:sp>
      <p:sp>
        <p:nvSpPr>
          <p:cNvPr id="21" name="Shape 15"/>
          <p:cNvSpPr/>
          <p:nvPr/>
        </p:nvSpPr>
        <p:spPr>
          <a:xfrm>
            <a:off x="4498848" y="5138928"/>
            <a:ext cx="457200" cy="457200"/>
          </a:xfrm>
          <a:prstGeom prst="ellipse">
            <a:avLst/>
          </a:prstGeom>
          <a:solidFill>
            <a:srgbClr val="1E2761"/>
          </a:solidFill>
          <a:ln/>
        </p:spPr>
      </p:sp>
      <p:pic>
        <p:nvPicPr>
          <p:cNvPr id="22" name="Image 4" descr="preencoded.png"/>
          <p:cNvPicPr>
            <a:picLocks noChangeAspect="1"/>
          </p:cNvPicPr>
          <p:nvPr/>
        </p:nvPicPr>
        <p:blipFill>
          <a:blip r:embed="rId7"/>
          <a:stretch>
            <a:fillRect/>
          </a:stretch>
        </p:blipFill>
        <p:spPr>
          <a:xfrm>
            <a:off x="4617720" y="5257800"/>
            <a:ext cx="219456" cy="219456"/>
          </a:xfrm>
          <a:prstGeom prst="rect">
            <a:avLst/>
          </a:prstGeom>
        </p:spPr>
      </p:pic>
      <p:sp>
        <p:nvSpPr>
          <p:cNvPr id="23" name="Text 16"/>
          <p:cNvSpPr/>
          <p:nvPr/>
        </p:nvSpPr>
        <p:spPr>
          <a:xfrm>
            <a:off x="4251960" y="5632704"/>
            <a:ext cx="950976" cy="502920"/>
          </a:xfrm>
          <a:prstGeom prst="rect">
            <a:avLst/>
          </a:prstGeom>
          <a:noFill/>
          <a:ln/>
        </p:spPr>
        <p:txBody>
          <a:bodyPr wrap="square" rtlCol="0" anchor="ctr"/>
          <a:lstStyle/>
          <a:p>
            <a:pPr marL="0" indent="0" algn="ctr">
              <a:buNone/>
            </a:pPr>
            <a:r>
              <a:rPr lang="en-US" sz="830" dirty="0">
                <a:solidFill>
                  <a:srgbClr val="1E2761"/>
                </a:solidFill>
                <a:latin typeface="Calibri" pitchFamily="34" charset="0"/>
                <a:ea typeface="Calibri" pitchFamily="34" charset="-122"/>
                <a:cs typeface="Calibri" pitchFamily="34" charset="-120"/>
              </a:rPr>
              <a:t>Diabetes</a:t>
            </a:r>
            <a:endParaRPr lang="en-US" sz="830" dirty="0"/>
          </a:p>
        </p:txBody>
      </p:sp>
      <p:sp>
        <p:nvSpPr>
          <p:cNvPr id="24" name="Shape 17"/>
          <p:cNvSpPr/>
          <p:nvPr/>
        </p:nvSpPr>
        <p:spPr>
          <a:xfrm>
            <a:off x="5806440" y="2331720"/>
            <a:ext cx="2331720" cy="4069080"/>
          </a:xfrm>
          <a:prstGeom prst="roundRect">
            <a:avLst>
              <a:gd name="adj" fmla="val 3137"/>
            </a:avLst>
          </a:prstGeom>
          <a:solidFill>
            <a:srgbClr val="151C49"/>
          </a:solidFill>
          <a:ln/>
        </p:spPr>
      </p:sp>
      <p:sp>
        <p:nvSpPr>
          <p:cNvPr id="25" name="Text 18"/>
          <p:cNvSpPr/>
          <p:nvPr/>
        </p:nvSpPr>
        <p:spPr>
          <a:xfrm>
            <a:off x="6053328" y="2523744"/>
            <a:ext cx="1920240" cy="3200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Dataset</a:t>
            </a:r>
            <a:endParaRPr lang="en-US" sz="1500" dirty="0"/>
          </a:p>
        </p:txBody>
      </p:sp>
      <p:sp>
        <p:nvSpPr>
          <p:cNvPr id="26" name="Text 19"/>
          <p:cNvSpPr/>
          <p:nvPr/>
        </p:nvSpPr>
        <p:spPr>
          <a:xfrm>
            <a:off x="6053328" y="2971800"/>
            <a:ext cx="1920240" cy="228600"/>
          </a:xfrm>
          <a:prstGeom prst="rect">
            <a:avLst/>
          </a:prstGeom>
          <a:noFill/>
          <a:ln/>
        </p:spPr>
        <p:txBody>
          <a:bodyPr wrap="square" rtlCol="0" anchor="ctr"/>
          <a:lstStyle/>
          <a:p>
            <a:pPr marL="0" indent="0">
              <a:buNone/>
            </a:pPr>
            <a:r>
              <a:rPr lang="en-US" sz="900" b="1" kern="0" spc="100" dirty="0">
                <a:solidFill>
                  <a:srgbClr val="00C2A8"/>
                </a:solidFill>
                <a:latin typeface="Calibri" pitchFamily="34" charset="0"/>
                <a:ea typeface="Calibri" pitchFamily="34" charset="-122"/>
                <a:cs typeface="Calibri" pitchFamily="34" charset="-120"/>
              </a:rPr>
              <a:t>SOURCE</a:t>
            </a:r>
            <a:endParaRPr lang="en-US" sz="900" dirty="0"/>
          </a:p>
        </p:txBody>
      </p:sp>
      <p:sp>
        <p:nvSpPr>
          <p:cNvPr id="27" name="Text 20"/>
          <p:cNvSpPr/>
          <p:nvPr/>
        </p:nvSpPr>
        <p:spPr>
          <a:xfrm>
            <a:off x="6053328" y="3191256"/>
            <a:ext cx="1920240" cy="41148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Yahoo Finance</a:t>
            </a:r>
            <a:endParaRPr lang="en-US" sz="1200" dirty="0"/>
          </a:p>
        </p:txBody>
      </p:sp>
      <p:sp>
        <p:nvSpPr>
          <p:cNvPr id="28" name="Text 21"/>
          <p:cNvSpPr/>
          <p:nvPr/>
        </p:nvSpPr>
        <p:spPr>
          <a:xfrm>
            <a:off x="6053328" y="3648456"/>
            <a:ext cx="1920240" cy="228600"/>
          </a:xfrm>
          <a:prstGeom prst="rect">
            <a:avLst/>
          </a:prstGeom>
          <a:noFill/>
          <a:ln/>
        </p:spPr>
        <p:txBody>
          <a:bodyPr wrap="square" rtlCol="0" anchor="ctr"/>
          <a:lstStyle/>
          <a:p>
            <a:pPr marL="0" indent="0">
              <a:buNone/>
            </a:pPr>
            <a:r>
              <a:rPr lang="en-US" sz="900" b="1" kern="0" spc="100" dirty="0">
                <a:solidFill>
                  <a:srgbClr val="00C2A8"/>
                </a:solidFill>
                <a:latin typeface="Calibri" pitchFamily="34" charset="0"/>
                <a:ea typeface="Calibri" pitchFamily="34" charset="-122"/>
                <a:cs typeface="Calibri" pitchFamily="34" charset="-120"/>
              </a:rPr>
              <a:t>TICKER</a:t>
            </a:r>
            <a:endParaRPr lang="en-US" sz="900" dirty="0"/>
          </a:p>
        </p:txBody>
      </p:sp>
      <p:sp>
        <p:nvSpPr>
          <p:cNvPr id="29" name="Text 22"/>
          <p:cNvSpPr/>
          <p:nvPr/>
        </p:nvSpPr>
        <p:spPr>
          <a:xfrm>
            <a:off x="6053328" y="3867912"/>
            <a:ext cx="1920240" cy="41148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CIPLA.NS</a:t>
            </a:r>
            <a:endParaRPr lang="en-US" sz="1200" dirty="0"/>
          </a:p>
        </p:txBody>
      </p:sp>
      <p:sp>
        <p:nvSpPr>
          <p:cNvPr id="30" name="Text 23"/>
          <p:cNvSpPr/>
          <p:nvPr/>
        </p:nvSpPr>
        <p:spPr>
          <a:xfrm>
            <a:off x="6053328" y="4325112"/>
            <a:ext cx="1920240" cy="228600"/>
          </a:xfrm>
          <a:prstGeom prst="rect">
            <a:avLst/>
          </a:prstGeom>
          <a:noFill/>
          <a:ln/>
        </p:spPr>
        <p:txBody>
          <a:bodyPr wrap="square" rtlCol="0" anchor="ctr"/>
          <a:lstStyle/>
          <a:p>
            <a:pPr marL="0" indent="0">
              <a:buNone/>
            </a:pPr>
            <a:r>
              <a:rPr lang="en-US" sz="900" b="1" kern="0" spc="100" dirty="0">
                <a:solidFill>
                  <a:srgbClr val="00C2A8"/>
                </a:solidFill>
                <a:latin typeface="Calibri" pitchFamily="34" charset="0"/>
                <a:ea typeface="Calibri" pitchFamily="34" charset="-122"/>
                <a:cs typeface="Calibri" pitchFamily="34" charset="-120"/>
              </a:rPr>
              <a:t>PERIOD</a:t>
            </a:r>
            <a:endParaRPr lang="en-US" sz="900" dirty="0"/>
          </a:p>
        </p:txBody>
      </p:sp>
      <p:sp>
        <p:nvSpPr>
          <p:cNvPr id="31" name="Text 24"/>
          <p:cNvSpPr/>
          <p:nvPr/>
        </p:nvSpPr>
        <p:spPr>
          <a:xfrm>
            <a:off x="6053328" y="4544568"/>
            <a:ext cx="1920240" cy="41148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Jan '18 – Jun '26</a:t>
            </a:r>
            <a:endParaRPr lang="en-US" sz="1200" dirty="0"/>
          </a:p>
        </p:txBody>
      </p:sp>
      <p:sp>
        <p:nvSpPr>
          <p:cNvPr id="32" name="Text 25"/>
          <p:cNvSpPr/>
          <p:nvPr/>
        </p:nvSpPr>
        <p:spPr>
          <a:xfrm>
            <a:off x="6053328" y="5001768"/>
            <a:ext cx="1920240" cy="228600"/>
          </a:xfrm>
          <a:prstGeom prst="rect">
            <a:avLst/>
          </a:prstGeom>
          <a:noFill/>
          <a:ln/>
        </p:spPr>
        <p:txBody>
          <a:bodyPr wrap="square" rtlCol="0" anchor="ctr"/>
          <a:lstStyle/>
          <a:p>
            <a:pPr marL="0" indent="0">
              <a:buNone/>
            </a:pPr>
            <a:r>
              <a:rPr lang="en-US" sz="900" b="1" kern="0" spc="100" dirty="0">
                <a:solidFill>
                  <a:srgbClr val="00C2A8"/>
                </a:solidFill>
                <a:latin typeface="Calibri" pitchFamily="34" charset="0"/>
                <a:ea typeface="Calibri" pitchFamily="34" charset="-122"/>
                <a:cs typeface="Calibri" pitchFamily="34" charset="-120"/>
              </a:rPr>
              <a:t>VARIABLE</a:t>
            </a:r>
            <a:endParaRPr lang="en-US" sz="900" dirty="0"/>
          </a:p>
        </p:txBody>
      </p:sp>
      <p:sp>
        <p:nvSpPr>
          <p:cNvPr id="33" name="Text 26"/>
          <p:cNvSpPr/>
          <p:nvPr/>
        </p:nvSpPr>
        <p:spPr>
          <a:xfrm>
            <a:off x="6053328" y="5221224"/>
            <a:ext cx="1920240" cy="41148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Opening Price</a:t>
            </a:r>
            <a:endParaRPr lang="en-US" sz="1200" dirty="0"/>
          </a:p>
        </p:txBody>
      </p:sp>
      <p:sp>
        <p:nvSpPr>
          <p:cNvPr id="34" name="Shape 27"/>
          <p:cNvSpPr/>
          <p:nvPr/>
        </p:nvSpPr>
        <p:spPr>
          <a:xfrm>
            <a:off x="6053328" y="5623560"/>
            <a:ext cx="1874520" cy="658368"/>
          </a:xfrm>
          <a:prstGeom prst="roundRect">
            <a:avLst>
              <a:gd name="adj" fmla="val 11111"/>
            </a:avLst>
          </a:prstGeom>
          <a:solidFill>
            <a:srgbClr val="00C2A8"/>
          </a:solidFill>
          <a:ln/>
        </p:spPr>
      </p:sp>
      <p:sp>
        <p:nvSpPr>
          <p:cNvPr id="35" name="Text 28"/>
          <p:cNvSpPr/>
          <p:nvPr/>
        </p:nvSpPr>
        <p:spPr>
          <a:xfrm>
            <a:off x="6053328" y="5623560"/>
            <a:ext cx="1874520" cy="658368"/>
          </a:xfrm>
          <a:prstGeom prst="rect">
            <a:avLst/>
          </a:prstGeom>
          <a:noFill/>
          <a:ln/>
        </p:spPr>
        <p:txBody>
          <a:bodyPr wrap="square" rtlCol="0" anchor="ctr"/>
          <a:lstStyle/>
          <a:p>
            <a:pPr marL="0" indent="0" algn="ctr">
              <a:buNone/>
            </a:pPr>
            <a:r>
              <a:rPr lang="en-US" sz="1900" b="1" dirty="0">
                <a:solidFill>
                  <a:srgbClr val="151C49"/>
                </a:solidFill>
                <a:latin typeface="Cambria" pitchFamily="34" charset="0"/>
                <a:ea typeface="Cambria" pitchFamily="34" charset="-122"/>
                <a:cs typeface="Cambria" pitchFamily="34" charset="-120"/>
              </a:rPr>
              <a:t>2,096</a:t>
            </a:r>
            <a:endParaRPr lang="en-US" sz="1900" dirty="0"/>
          </a:p>
          <a:p>
            <a:pPr marL="0" indent="0" algn="ctr">
              <a:buNone/>
            </a:pPr>
            <a:r>
              <a:rPr lang="en-US" sz="950" dirty="0">
                <a:solidFill>
                  <a:srgbClr val="151C49"/>
                </a:solidFill>
                <a:latin typeface="Cambria" pitchFamily="34" charset="0"/>
                <a:ea typeface="Cambria" pitchFamily="34" charset="-122"/>
                <a:cs typeface="Cambria" pitchFamily="34" charset="-120"/>
              </a:rPr>
              <a:t>trading days</a:t>
            </a:r>
            <a:endParaRPr lang="en-US" sz="1900" dirty="0"/>
          </a:p>
        </p:txBody>
      </p:sp>
      <p:sp>
        <p:nvSpPr>
          <p:cNvPr id="36" name="Shape 29"/>
          <p:cNvSpPr/>
          <p:nvPr/>
        </p:nvSpPr>
        <p:spPr>
          <a:xfrm>
            <a:off x="8321040" y="2331720"/>
            <a:ext cx="3337560" cy="4069080"/>
          </a:xfrm>
          <a:prstGeom prst="roundRect">
            <a:avLst>
              <a:gd name="adj" fmla="val 2192"/>
            </a:avLst>
          </a:prstGeom>
          <a:solidFill>
            <a:srgbClr val="FFFFFF"/>
          </a:solidFill>
          <a:ln w="12700">
            <a:solidFill>
              <a:srgbClr val="E3E8F5"/>
            </a:solidFill>
            <a:prstDash val="solid"/>
          </a:ln>
        </p:spPr>
      </p:sp>
      <p:sp>
        <p:nvSpPr>
          <p:cNvPr id="37" name="Text 30"/>
          <p:cNvSpPr/>
          <p:nvPr/>
        </p:nvSpPr>
        <p:spPr>
          <a:xfrm>
            <a:off x="8503920" y="2450592"/>
            <a:ext cx="3017520" cy="274320"/>
          </a:xfrm>
          <a:prstGeom prst="rect">
            <a:avLst/>
          </a:prstGeom>
          <a:noFill/>
          <a:ln/>
        </p:spPr>
        <p:txBody>
          <a:bodyPr wrap="square"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Cipla Opening Price (2018–2026)</a:t>
            </a:r>
            <a:endParaRPr lang="en-US" sz="1050" dirty="0"/>
          </a:p>
        </p:txBody>
      </p:sp>
      <p:pic>
        <p:nvPicPr>
          <p:cNvPr id="38" name="Image 5" descr="/home/claude/ppt/imgs/Screenshot_2026-06-28_084943.png"/>
          <p:cNvPicPr>
            <a:picLocks noChangeAspect="1"/>
          </p:cNvPicPr>
          <p:nvPr/>
        </p:nvPicPr>
        <p:blipFill>
          <a:blip r:embed="rId8"/>
          <a:stretch>
            <a:fillRect/>
          </a:stretch>
        </p:blipFill>
        <p:spPr>
          <a:xfrm>
            <a:off x="8412480" y="3720392"/>
            <a:ext cx="3154680" cy="17032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4572000" cy="274320"/>
          </a:xfrm>
          <a:prstGeom prst="rect">
            <a:avLst/>
          </a:prstGeom>
          <a:noFill/>
          <a:ln/>
        </p:spPr>
        <p:txBody>
          <a:bodyPr wrap="square" rtlCol="0" anchor="ctr"/>
          <a:lstStyle/>
          <a:p>
            <a:pPr marL="0" indent="0">
              <a:buNone/>
            </a:pPr>
            <a:r>
              <a:rPr lang="en-US" sz="1200" b="1" kern="0" spc="200" dirty="0">
                <a:solidFill>
                  <a:srgbClr val="00C2A8"/>
                </a:solidFill>
                <a:latin typeface="Calibri" pitchFamily="34" charset="0"/>
                <a:ea typeface="Calibri" pitchFamily="34" charset="-122"/>
                <a:cs typeface="Calibri" pitchFamily="34" charset="-120"/>
              </a:rPr>
              <a:t>MODEL 1</a:t>
            </a:r>
            <a:endParaRPr lang="en-US" sz="1200" dirty="0"/>
          </a:p>
        </p:txBody>
      </p:sp>
      <p:sp>
        <p:nvSpPr>
          <p:cNvPr id="3" name="Text 1"/>
          <p:cNvSpPr/>
          <p:nvPr/>
        </p:nvSpPr>
        <p:spPr>
          <a:xfrm>
            <a:off x="548640" y="621792"/>
            <a:ext cx="100584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Stacked LSTM — Direct Price Prediction</a:t>
            </a:r>
            <a:endParaRPr lang="en-US" sz="2800" dirty="0"/>
          </a:p>
        </p:txBody>
      </p:sp>
      <p:sp>
        <p:nvSpPr>
          <p:cNvPr id="4" name="Shape 2"/>
          <p:cNvSpPr/>
          <p:nvPr/>
        </p:nvSpPr>
        <p:spPr>
          <a:xfrm>
            <a:off x="548640" y="1371600"/>
            <a:ext cx="1298448" cy="868680"/>
          </a:xfrm>
          <a:prstGeom prst="roundRect">
            <a:avLst>
              <a:gd name="adj" fmla="val 7368"/>
            </a:avLst>
          </a:prstGeom>
          <a:solidFill>
            <a:srgbClr val="F4F7FE"/>
          </a:solidFill>
          <a:ln/>
        </p:spPr>
      </p:sp>
      <p:sp>
        <p:nvSpPr>
          <p:cNvPr id="5" name="Shape 3"/>
          <p:cNvSpPr/>
          <p:nvPr/>
        </p:nvSpPr>
        <p:spPr>
          <a:xfrm>
            <a:off x="996696" y="1463040"/>
            <a:ext cx="402336" cy="402336"/>
          </a:xfrm>
          <a:prstGeom prst="ellipse">
            <a:avLst/>
          </a:prstGeom>
          <a:solidFill>
            <a:srgbClr val="1E2761"/>
          </a:solidFill>
          <a:ln/>
        </p:spPr>
      </p:sp>
      <p:pic>
        <p:nvPicPr>
          <p:cNvPr id="6" name="Image 0" descr="preencoded.png"/>
          <p:cNvPicPr>
            <a:picLocks noChangeAspect="1"/>
          </p:cNvPicPr>
          <p:nvPr/>
        </p:nvPicPr>
        <p:blipFill>
          <a:blip r:embed="rId3"/>
          <a:stretch>
            <a:fillRect/>
          </a:stretch>
        </p:blipFill>
        <p:spPr>
          <a:xfrm>
            <a:off x="1101303" y="1567647"/>
            <a:ext cx="193121" cy="193121"/>
          </a:xfrm>
          <a:prstGeom prst="rect">
            <a:avLst/>
          </a:prstGeom>
        </p:spPr>
      </p:pic>
      <p:sp>
        <p:nvSpPr>
          <p:cNvPr id="7" name="Text 4"/>
          <p:cNvSpPr/>
          <p:nvPr/>
        </p:nvSpPr>
        <p:spPr>
          <a:xfrm>
            <a:off x="502920" y="1883664"/>
            <a:ext cx="1389888" cy="347472"/>
          </a:xfrm>
          <a:prstGeom prst="rect">
            <a:avLst/>
          </a:prstGeom>
          <a:noFill/>
          <a:ln/>
        </p:spPr>
        <p:txBody>
          <a:bodyPr wrap="square" rtlCol="0" anchor="t"/>
          <a:lstStyle/>
          <a:p>
            <a:pPr marL="0" indent="0" algn="ctr">
              <a:buNone/>
            </a:pPr>
            <a:r>
              <a:rPr lang="en-US" sz="870" dirty="0">
                <a:solidFill>
                  <a:srgbClr val="1E2761"/>
                </a:solidFill>
                <a:latin typeface="Calibri" pitchFamily="34" charset="0"/>
                <a:ea typeface="Calibri" pitchFamily="34" charset="-122"/>
                <a:cs typeface="Calibri" pitchFamily="34" charset="-120"/>
              </a:rPr>
              <a:t>Input</a:t>
            </a:r>
            <a:endParaRPr lang="en-US" sz="870" dirty="0"/>
          </a:p>
          <a:p>
            <a:pPr marL="0" indent="0" algn="ctr">
              <a:buNone/>
            </a:pPr>
            <a:r>
              <a:rPr lang="en-US" sz="870" dirty="0">
                <a:solidFill>
                  <a:srgbClr val="1E2761"/>
                </a:solidFill>
                <a:latin typeface="Calibri" pitchFamily="34" charset="0"/>
                <a:ea typeface="Calibri" pitchFamily="34" charset="-122"/>
                <a:cs typeface="Calibri" pitchFamily="34" charset="-120"/>
              </a:rPr>
              <a:t>(Prev 120 days)</a:t>
            </a:r>
            <a:endParaRPr lang="en-US" sz="870" dirty="0"/>
          </a:p>
        </p:txBody>
      </p:sp>
      <p:sp>
        <p:nvSpPr>
          <p:cNvPr id="8" name="Text 5"/>
          <p:cNvSpPr/>
          <p:nvPr/>
        </p:nvSpPr>
        <p:spPr>
          <a:xfrm>
            <a:off x="1847088" y="1371600"/>
            <a:ext cx="109728" cy="868680"/>
          </a:xfrm>
          <a:prstGeom prst="rect">
            <a:avLst/>
          </a:prstGeom>
          <a:noFill/>
          <a:ln/>
        </p:spPr>
        <p:txBody>
          <a:bodyPr wrap="square" rtlCol="0" anchor="ctr"/>
          <a:lstStyle/>
          <a:p>
            <a:pPr marL="0" indent="0" algn="ctr">
              <a:buNone/>
            </a:pPr>
            <a:r>
              <a:rPr lang="en-US" sz="1500" dirty="0">
                <a:solidFill>
                  <a:srgbClr val="5B6B9E"/>
                </a:solidFill>
              </a:rPr>
              <a:t>→</a:t>
            </a:r>
            <a:endParaRPr lang="en-US" sz="1500" dirty="0"/>
          </a:p>
        </p:txBody>
      </p:sp>
      <p:sp>
        <p:nvSpPr>
          <p:cNvPr id="9" name="Shape 6"/>
          <p:cNvSpPr/>
          <p:nvPr/>
        </p:nvSpPr>
        <p:spPr>
          <a:xfrm>
            <a:off x="1956816" y="1371600"/>
            <a:ext cx="1298448" cy="868680"/>
          </a:xfrm>
          <a:prstGeom prst="roundRect">
            <a:avLst>
              <a:gd name="adj" fmla="val 7368"/>
            </a:avLst>
          </a:prstGeom>
          <a:solidFill>
            <a:srgbClr val="F4F7FE"/>
          </a:solidFill>
          <a:ln/>
        </p:spPr>
      </p:sp>
      <p:sp>
        <p:nvSpPr>
          <p:cNvPr id="10" name="Shape 7"/>
          <p:cNvSpPr/>
          <p:nvPr/>
        </p:nvSpPr>
        <p:spPr>
          <a:xfrm>
            <a:off x="2404872" y="1463040"/>
            <a:ext cx="402336" cy="402336"/>
          </a:xfrm>
          <a:prstGeom prst="ellipse">
            <a:avLst/>
          </a:prstGeom>
          <a:solidFill>
            <a:srgbClr val="1E2761"/>
          </a:solidFill>
          <a:ln/>
        </p:spPr>
      </p:sp>
      <p:pic>
        <p:nvPicPr>
          <p:cNvPr id="11" name="Image 1" descr="preencoded.png"/>
          <p:cNvPicPr>
            <a:picLocks noChangeAspect="1"/>
          </p:cNvPicPr>
          <p:nvPr/>
        </p:nvPicPr>
        <p:blipFill>
          <a:blip r:embed="rId4"/>
          <a:stretch>
            <a:fillRect/>
          </a:stretch>
        </p:blipFill>
        <p:spPr>
          <a:xfrm>
            <a:off x="2509479" y="1567647"/>
            <a:ext cx="193121" cy="193121"/>
          </a:xfrm>
          <a:prstGeom prst="rect">
            <a:avLst/>
          </a:prstGeom>
        </p:spPr>
      </p:pic>
      <p:sp>
        <p:nvSpPr>
          <p:cNvPr id="12" name="Text 8"/>
          <p:cNvSpPr/>
          <p:nvPr/>
        </p:nvSpPr>
        <p:spPr>
          <a:xfrm>
            <a:off x="1911096" y="1883664"/>
            <a:ext cx="1389888" cy="347472"/>
          </a:xfrm>
          <a:prstGeom prst="rect">
            <a:avLst/>
          </a:prstGeom>
          <a:noFill/>
          <a:ln/>
        </p:spPr>
        <p:txBody>
          <a:bodyPr wrap="square" rtlCol="0" anchor="t"/>
          <a:lstStyle/>
          <a:p>
            <a:pPr marL="0" indent="0" algn="ctr">
              <a:buNone/>
            </a:pPr>
            <a:r>
              <a:rPr lang="en-US" sz="870" dirty="0">
                <a:solidFill>
                  <a:srgbClr val="1E2761"/>
                </a:solidFill>
                <a:latin typeface="Calibri" pitchFamily="34" charset="0"/>
                <a:ea typeface="Calibri" pitchFamily="34" charset="-122"/>
                <a:cs typeface="Calibri" pitchFamily="34" charset="-120"/>
              </a:rPr>
              <a:t>MinMax</a:t>
            </a:r>
            <a:endParaRPr lang="en-US" sz="870" dirty="0"/>
          </a:p>
          <a:p>
            <a:pPr marL="0" indent="0" algn="ctr">
              <a:buNone/>
            </a:pPr>
            <a:r>
              <a:rPr lang="en-US" sz="870" dirty="0">
                <a:solidFill>
                  <a:srgbClr val="1E2761"/>
                </a:solidFill>
                <a:latin typeface="Calibri" pitchFamily="34" charset="0"/>
                <a:ea typeface="Calibri" pitchFamily="34" charset="-122"/>
                <a:cs typeface="Calibri" pitchFamily="34" charset="-120"/>
              </a:rPr>
              <a:t>Scaler</a:t>
            </a:r>
            <a:endParaRPr lang="en-US" sz="870" dirty="0"/>
          </a:p>
        </p:txBody>
      </p:sp>
      <p:sp>
        <p:nvSpPr>
          <p:cNvPr id="13" name="Text 9"/>
          <p:cNvSpPr/>
          <p:nvPr/>
        </p:nvSpPr>
        <p:spPr>
          <a:xfrm>
            <a:off x="3255264" y="1371600"/>
            <a:ext cx="109728" cy="868680"/>
          </a:xfrm>
          <a:prstGeom prst="rect">
            <a:avLst/>
          </a:prstGeom>
          <a:noFill/>
          <a:ln/>
        </p:spPr>
        <p:txBody>
          <a:bodyPr wrap="square" rtlCol="0" anchor="ctr"/>
          <a:lstStyle/>
          <a:p>
            <a:pPr marL="0" indent="0" algn="ctr">
              <a:buNone/>
            </a:pPr>
            <a:r>
              <a:rPr lang="en-US" sz="1500" dirty="0">
                <a:solidFill>
                  <a:srgbClr val="5B6B9E"/>
                </a:solidFill>
              </a:rPr>
              <a:t>→</a:t>
            </a:r>
            <a:endParaRPr lang="en-US" sz="1500" dirty="0"/>
          </a:p>
        </p:txBody>
      </p:sp>
      <p:sp>
        <p:nvSpPr>
          <p:cNvPr id="14" name="Shape 10"/>
          <p:cNvSpPr/>
          <p:nvPr/>
        </p:nvSpPr>
        <p:spPr>
          <a:xfrm>
            <a:off x="3364992" y="1371600"/>
            <a:ext cx="1298448" cy="868680"/>
          </a:xfrm>
          <a:prstGeom prst="roundRect">
            <a:avLst>
              <a:gd name="adj" fmla="val 7368"/>
            </a:avLst>
          </a:prstGeom>
          <a:solidFill>
            <a:srgbClr val="1E2761"/>
          </a:solidFill>
          <a:ln/>
        </p:spPr>
      </p:sp>
      <p:sp>
        <p:nvSpPr>
          <p:cNvPr id="15" name="Shape 11"/>
          <p:cNvSpPr/>
          <p:nvPr/>
        </p:nvSpPr>
        <p:spPr>
          <a:xfrm>
            <a:off x="3813048" y="1463040"/>
            <a:ext cx="402336" cy="402336"/>
          </a:xfrm>
          <a:prstGeom prst="ellipse">
            <a:avLst/>
          </a:prstGeom>
          <a:solidFill>
            <a:srgbClr val="00C2A8"/>
          </a:solidFill>
          <a:ln/>
        </p:spPr>
      </p:sp>
      <p:pic>
        <p:nvPicPr>
          <p:cNvPr id="16" name="Image 2" descr="preencoded.png"/>
          <p:cNvPicPr>
            <a:picLocks noChangeAspect="1"/>
          </p:cNvPicPr>
          <p:nvPr/>
        </p:nvPicPr>
        <p:blipFill>
          <a:blip r:embed="rId5"/>
          <a:stretch>
            <a:fillRect/>
          </a:stretch>
        </p:blipFill>
        <p:spPr>
          <a:xfrm>
            <a:off x="3917655" y="1567647"/>
            <a:ext cx="193121" cy="193121"/>
          </a:xfrm>
          <a:prstGeom prst="rect">
            <a:avLst/>
          </a:prstGeom>
        </p:spPr>
      </p:pic>
      <p:sp>
        <p:nvSpPr>
          <p:cNvPr id="17" name="Text 12"/>
          <p:cNvSpPr/>
          <p:nvPr/>
        </p:nvSpPr>
        <p:spPr>
          <a:xfrm>
            <a:off x="3319272" y="1883664"/>
            <a:ext cx="1389888" cy="347472"/>
          </a:xfrm>
          <a:prstGeom prst="rect">
            <a:avLst/>
          </a:prstGeom>
          <a:noFill/>
          <a:ln/>
        </p:spPr>
        <p:txBody>
          <a:bodyPr wrap="square" rtlCol="0" anchor="t"/>
          <a:lstStyle/>
          <a:p>
            <a:pPr marL="0" indent="0" algn="ctr">
              <a:buNone/>
            </a:pPr>
            <a:r>
              <a:rPr lang="en-US" sz="870" dirty="0">
                <a:solidFill>
                  <a:srgbClr val="FFFFFF"/>
                </a:solidFill>
                <a:latin typeface="Calibri" pitchFamily="34" charset="0"/>
                <a:ea typeface="Calibri" pitchFamily="34" charset="-122"/>
                <a:cs typeface="Calibri" pitchFamily="34" charset="-120"/>
              </a:rPr>
              <a:t>LSTM 50</a:t>
            </a:r>
            <a:endParaRPr lang="en-US" sz="870" dirty="0"/>
          </a:p>
          <a:p>
            <a:pPr marL="0" indent="0" algn="ctr">
              <a:buNone/>
            </a:pPr>
            <a:r>
              <a:rPr lang="en-US" sz="870" dirty="0">
                <a:solidFill>
                  <a:srgbClr val="FFFFFF"/>
                </a:solidFill>
                <a:latin typeface="Calibri" pitchFamily="34" charset="0"/>
                <a:ea typeface="Calibri" pitchFamily="34" charset="-122"/>
                <a:cs typeface="Calibri" pitchFamily="34" charset="-120"/>
              </a:rPr>
              <a:t>+ Dropout 0.2</a:t>
            </a:r>
            <a:endParaRPr lang="en-US" sz="870" dirty="0"/>
          </a:p>
        </p:txBody>
      </p:sp>
      <p:sp>
        <p:nvSpPr>
          <p:cNvPr id="18" name="Text 13"/>
          <p:cNvSpPr/>
          <p:nvPr/>
        </p:nvSpPr>
        <p:spPr>
          <a:xfrm>
            <a:off x="4663440" y="1371600"/>
            <a:ext cx="109728" cy="868680"/>
          </a:xfrm>
          <a:prstGeom prst="rect">
            <a:avLst/>
          </a:prstGeom>
          <a:noFill/>
          <a:ln/>
        </p:spPr>
        <p:txBody>
          <a:bodyPr wrap="square" rtlCol="0" anchor="ctr"/>
          <a:lstStyle/>
          <a:p>
            <a:pPr marL="0" indent="0" algn="ctr">
              <a:buNone/>
            </a:pPr>
            <a:r>
              <a:rPr lang="en-US" sz="1500" dirty="0">
                <a:solidFill>
                  <a:srgbClr val="5B6B9E"/>
                </a:solidFill>
              </a:rPr>
              <a:t>→</a:t>
            </a:r>
            <a:endParaRPr lang="en-US" sz="1500" dirty="0"/>
          </a:p>
        </p:txBody>
      </p:sp>
      <p:sp>
        <p:nvSpPr>
          <p:cNvPr id="19" name="Shape 14"/>
          <p:cNvSpPr/>
          <p:nvPr/>
        </p:nvSpPr>
        <p:spPr>
          <a:xfrm>
            <a:off x="4773168" y="1371600"/>
            <a:ext cx="1298448" cy="868680"/>
          </a:xfrm>
          <a:prstGeom prst="roundRect">
            <a:avLst>
              <a:gd name="adj" fmla="val 7368"/>
            </a:avLst>
          </a:prstGeom>
          <a:solidFill>
            <a:srgbClr val="1E2761"/>
          </a:solidFill>
          <a:ln/>
        </p:spPr>
      </p:sp>
      <p:sp>
        <p:nvSpPr>
          <p:cNvPr id="20" name="Shape 15"/>
          <p:cNvSpPr/>
          <p:nvPr/>
        </p:nvSpPr>
        <p:spPr>
          <a:xfrm>
            <a:off x="5221224" y="1463040"/>
            <a:ext cx="402336" cy="402336"/>
          </a:xfrm>
          <a:prstGeom prst="ellipse">
            <a:avLst/>
          </a:prstGeom>
          <a:solidFill>
            <a:srgbClr val="00C2A8"/>
          </a:solidFill>
          <a:ln/>
        </p:spPr>
      </p:sp>
      <p:pic>
        <p:nvPicPr>
          <p:cNvPr id="21" name="Image 3" descr="preencoded.png"/>
          <p:cNvPicPr>
            <a:picLocks noChangeAspect="1"/>
          </p:cNvPicPr>
          <p:nvPr/>
        </p:nvPicPr>
        <p:blipFill>
          <a:blip r:embed="rId5"/>
          <a:stretch>
            <a:fillRect/>
          </a:stretch>
        </p:blipFill>
        <p:spPr>
          <a:xfrm>
            <a:off x="5325831" y="1567647"/>
            <a:ext cx="193121" cy="193121"/>
          </a:xfrm>
          <a:prstGeom prst="rect">
            <a:avLst/>
          </a:prstGeom>
        </p:spPr>
      </p:pic>
      <p:sp>
        <p:nvSpPr>
          <p:cNvPr id="22" name="Text 16"/>
          <p:cNvSpPr/>
          <p:nvPr/>
        </p:nvSpPr>
        <p:spPr>
          <a:xfrm>
            <a:off x="4727448" y="1883664"/>
            <a:ext cx="1389888" cy="347472"/>
          </a:xfrm>
          <a:prstGeom prst="rect">
            <a:avLst/>
          </a:prstGeom>
          <a:noFill/>
          <a:ln/>
        </p:spPr>
        <p:txBody>
          <a:bodyPr wrap="square" rtlCol="0" anchor="t"/>
          <a:lstStyle/>
          <a:p>
            <a:pPr marL="0" indent="0" algn="ctr">
              <a:buNone/>
            </a:pPr>
            <a:r>
              <a:rPr lang="en-US" sz="870" dirty="0">
                <a:solidFill>
                  <a:srgbClr val="FFFFFF"/>
                </a:solidFill>
                <a:latin typeface="Calibri" pitchFamily="34" charset="0"/>
                <a:ea typeface="Calibri" pitchFamily="34" charset="-122"/>
                <a:cs typeface="Calibri" pitchFamily="34" charset="-120"/>
              </a:rPr>
              <a:t>LSTM 50</a:t>
            </a:r>
            <a:endParaRPr lang="en-US" sz="870" dirty="0"/>
          </a:p>
          <a:p>
            <a:pPr marL="0" indent="0" algn="ctr">
              <a:buNone/>
            </a:pPr>
            <a:r>
              <a:rPr lang="en-US" sz="870" dirty="0">
                <a:solidFill>
                  <a:srgbClr val="FFFFFF"/>
                </a:solidFill>
                <a:latin typeface="Calibri" pitchFamily="34" charset="0"/>
                <a:ea typeface="Calibri" pitchFamily="34" charset="-122"/>
                <a:cs typeface="Calibri" pitchFamily="34" charset="-120"/>
              </a:rPr>
              <a:t>+ Dropout 0.2</a:t>
            </a:r>
            <a:endParaRPr lang="en-US" sz="870" dirty="0"/>
          </a:p>
        </p:txBody>
      </p:sp>
      <p:sp>
        <p:nvSpPr>
          <p:cNvPr id="23" name="Text 17"/>
          <p:cNvSpPr/>
          <p:nvPr/>
        </p:nvSpPr>
        <p:spPr>
          <a:xfrm>
            <a:off x="6071616" y="1371600"/>
            <a:ext cx="109728" cy="868680"/>
          </a:xfrm>
          <a:prstGeom prst="rect">
            <a:avLst/>
          </a:prstGeom>
          <a:noFill/>
          <a:ln/>
        </p:spPr>
        <p:txBody>
          <a:bodyPr wrap="square" rtlCol="0" anchor="ctr"/>
          <a:lstStyle/>
          <a:p>
            <a:pPr marL="0" indent="0" algn="ctr">
              <a:buNone/>
            </a:pPr>
            <a:r>
              <a:rPr lang="en-US" sz="1500" dirty="0">
                <a:solidFill>
                  <a:srgbClr val="5B6B9E"/>
                </a:solidFill>
              </a:rPr>
              <a:t>→</a:t>
            </a:r>
            <a:endParaRPr lang="en-US" sz="1500" dirty="0"/>
          </a:p>
        </p:txBody>
      </p:sp>
      <p:sp>
        <p:nvSpPr>
          <p:cNvPr id="24" name="Shape 18"/>
          <p:cNvSpPr/>
          <p:nvPr/>
        </p:nvSpPr>
        <p:spPr>
          <a:xfrm>
            <a:off x="6181344" y="1371600"/>
            <a:ext cx="1298448" cy="868680"/>
          </a:xfrm>
          <a:prstGeom prst="roundRect">
            <a:avLst>
              <a:gd name="adj" fmla="val 7368"/>
            </a:avLst>
          </a:prstGeom>
          <a:solidFill>
            <a:srgbClr val="F4F7FE"/>
          </a:solidFill>
          <a:ln/>
        </p:spPr>
      </p:sp>
      <p:sp>
        <p:nvSpPr>
          <p:cNvPr id="25" name="Shape 19"/>
          <p:cNvSpPr/>
          <p:nvPr/>
        </p:nvSpPr>
        <p:spPr>
          <a:xfrm>
            <a:off x="6629400" y="1463040"/>
            <a:ext cx="402336" cy="402336"/>
          </a:xfrm>
          <a:prstGeom prst="ellipse">
            <a:avLst/>
          </a:prstGeom>
          <a:solidFill>
            <a:srgbClr val="1E2761"/>
          </a:solidFill>
          <a:ln/>
        </p:spPr>
      </p:sp>
      <p:pic>
        <p:nvPicPr>
          <p:cNvPr id="26" name="Image 4" descr="preencoded.png"/>
          <p:cNvPicPr>
            <a:picLocks noChangeAspect="1"/>
          </p:cNvPicPr>
          <p:nvPr/>
        </p:nvPicPr>
        <p:blipFill>
          <a:blip r:embed="rId6"/>
          <a:stretch>
            <a:fillRect/>
          </a:stretch>
        </p:blipFill>
        <p:spPr>
          <a:xfrm>
            <a:off x="6734007" y="1567647"/>
            <a:ext cx="193121" cy="193121"/>
          </a:xfrm>
          <a:prstGeom prst="rect">
            <a:avLst/>
          </a:prstGeom>
        </p:spPr>
      </p:pic>
      <p:sp>
        <p:nvSpPr>
          <p:cNvPr id="27" name="Text 20"/>
          <p:cNvSpPr/>
          <p:nvPr/>
        </p:nvSpPr>
        <p:spPr>
          <a:xfrm>
            <a:off x="6135624" y="1883664"/>
            <a:ext cx="1389888" cy="347472"/>
          </a:xfrm>
          <a:prstGeom prst="rect">
            <a:avLst/>
          </a:prstGeom>
          <a:noFill/>
          <a:ln/>
        </p:spPr>
        <p:txBody>
          <a:bodyPr wrap="square" rtlCol="0" anchor="t"/>
          <a:lstStyle/>
          <a:p>
            <a:pPr marL="0" indent="0" algn="ctr">
              <a:buNone/>
            </a:pPr>
            <a:r>
              <a:rPr lang="en-US" sz="870" dirty="0">
                <a:solidFill>
                  <a:srgbClr val="1E2761"/>
                </a:solidFill>
                <a:latin typeface="Calibri" pitchFamily="34" charset="0"/>
                <a:ea typeface="Calibri" pitchFamily="34" charset="-122"/>
                <a:cs typeface="Calibri" pitchFamily="34" charset="-120"/>
              </a:rPr>
              <a:t>Dense (1)</a:t>
            </a:r>
            <a:endParaRPr lang="en-US" sz="870" dirty="0"/>
          </a:p>
          <a:p>
            <a:pPr marL="0" indent="0" algn="ctr">
              <a:buNone/>
            </a:pPr>
            <a:r>
              <a:rPr lang="en-US" sz="870" dirty="0">
                <a:solidFill>
                  <a:srgbClr val="1E2761"/>
                </a:solidFill>
                <a:latin typeface="Calibri" pitchFamily="34" charset="0"/>
                <a:ea typeface="Calibri" pitchFamily="34" charset="-122"/>
                <a:cs typeface="Calibri" pitchFamily="34" charset="-120"/>
              </a:rPr>
              <a:t>Output Price</a:t>
            </a:r>
            <a:endParaRPr lang="en-US" sz="870" dirty="0"/>
          </a:p>
        </p:txBody>
      </p:sp>
      <p:sp>
        <p:nvSpPr>
          <p:cNvPr id="28" name="Text 21"/>
          <p:cNvSpPr/>
          <p:nvPr/>
        </p:nvSpPr>
        <p:spPr>
          <a:xfrm>
            <a:off x="548640" y="2450592"/>
            <a:ext cx="3657600" cy="292608"/>
          </a:xfrm>
          <a:prstGeom prst="rect">
            <a:avLst/>
          </a:prstGeom>
          <a:noFill/>
          <a:ln/>
        </p:spPr>
        <p:txBody>
          <a:bodyPr wrap="square"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Hyperparameters</a:t>
            </a:r>
            <a:endParaRPr lang="en-US" sz="1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2779776"/>
          <a:ext cx="4160520" cy="2331720"/>
        </p:xfrm>
        <a:graphic>
          <a:graphicData uri="http://schemas.openxmlformats.org/drawingml/2006/table">
            <a:tbl>
              <a:tblPr/>
              <a:tblGrid>
                <a:gridCol w="210312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388620">
                <a:tc>
                  <a:txBody>
                    <a:bodyPr/>
                    <a:lstStyle/>
                    <a:p>
                      <a:pPr marL="0" indent="0">
                        <a:buNone/>
                      </a:pPr>
                      <a:r>
                        <a:rPr lang="en-US" sz="1050" dirty="0">
                          <a:solidFill>
                            <a:srgbClr val="1E2761"/>
                          </a:solidFill>
                          <a:latin typeface="Calibri" pitchFamily="34" charset="0"/>
                          <a:ea typeface="Calibri" pitchFamily="34" charset="-122"/>
                          <a:cs typeface="Calibri" pitchFamily="34" charset="-120"/>
                        </a:rPr>
                        <a:t>Optimizer</a:t>
                      </a:r>
                      <a:endParaRPr lang="en-US" sz="1050" dirty="0">
                        <a:latin typeface="Calibri" charset="0"/>
                        <a:ea typeface="Calibri" charset="0"/>
                        <a:cs typeface="Calibri" charset="0"/>
                      </a:endParaRPr>
                    </a:p>
                  </a:txBody>
                  <a:tcPr marL="76200" marR="76200" marT="38100" marB="381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tc>
                  <a:txBody>
                    <a:bodyPr/>
                    <a:lstStyle/>
                    <a:p>
                      <a:pPr marL="0" indent="0">
                        <a:buNone/>
                      </a:pPr>
                      <a:r>
                        <a:rPr lang="en-US" sz="1050" b="1" dirty="0">
                          <a:solidFill>
                            <a:srgbClr val="1E2761"/>
                          </a:solidFill>
                          <a:latin typeface="Calibri" pitchFamily="34" charset="0"/>
                          <a:ea typeface="Calibri" pitchFamily="34" charset="-122"/>
                          <a:cs typeface="Calibri" pitchFamily="34" charset="-120"/>
                        </a:rPr>
                        <a:t>Adam</a:t>
                      </a:r>
                      <a:endParaRPr lang="en-US" sz="1050" dirty="0">
                        <a:latin typeface="Calibri" charset="0"/>
                        <a:ea typeface="Calibri" charset="0"/>
                        <a:cs typeface="Calibri" charset="0"/>
                      </a:endParaRPr>
                    </a:p>
                  </a:txBody>
                  <a:tcPr marL="76200" marR="76200" marT="38100" marB="381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extLst>
                  <a:ext uri="{0D108BD9-81ED-4DB2-BD59-A6C34878D82A}">
                    <a16:rowId xmlns:a16="http://schemas.microsoft.com/office/drawing/2014/main" val="10000"/>
                  </a:ext>
                </a:extLst>
              </a:tr>
              <a:tr h="388620">
                <a:tc>
                  <a:txBody>
                    <a:bodyPr/>
                    <a:lstStyle/>
                    <a:p>
                      <a:pPr marL="0" indent="0">
                        <a:buNone/>
                      </a:pPr>
                      <a:r>
                        <a:rPr lang="en-US" sz="1050" dirty="0">
                          <a:solidFill>
                            <a:srgbClr val="1E2761"/>
                          </a:solidFill>
                          <a:latin typeface="Calibri" pitchFamily="34" charset="0"/>
                          <a:ea typeface="Calibri" pitchFamily="34" charset="-122"/>
                          <a:cs typeface="Calibri" pitchFamily="34" charset="-120"/>
                        </a:rPr>
                        <a:t>Learning Rate</a:t>
                      </a:r>
                      <a:endParaRPr lang="en-US" sz="1050" dirty="0">
                        <a:latin typeface="Calibri" charset="0"/>
                        <a:ea typeface="Calibri" charset="0"/>
                        <a:cs typeface="Calibri" charset="0"/>
                      </a:endParaRPr>
                    </a:p>
                  </a:txBody>
                  <a:tcPr marL="76200" marR="76200" marT="38100" marB="381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tc>
                  <a:txBody>
                    <a:bodyPr/>
                    <a:lstStyle/>
                    <a:p>
                      <a:pPr marL="0" indent="0">
                        <a:buNone/>
                      </a:pPr>
                      <a:r>
                        <a:rPr lang="en-US" sz="1050" b="1" dirty="0">
                          <a:solidFill>
                            <a:srgbClr val="1E2761"/>
                          </a:solidFill>
                          <a:latin typeface="Calibri" pitchFamily="34" charset="0"/>
                          <a:ea typeface="Calibri" pitchFamily="34" charset="-122"/>
                          <a:cs typeface="Calibri" pitchFamily="34" charset="-120"/>
                        </a:rPr>
                        <a:t>0.0005</a:t>
                      </a:r>
                      <a:endParaRPr lang="en-US" sz="1050" dirty="0">
                        <a:latin typeface="Calibri" charset="0"/>
                        <a:ea typeface="Calibri" charset="0"/>
                        <a:cs typeface="Calibri" charset="0"/>
                      </a:endParaRPr>
                    </a:p>
                  </a:txBody>
                  <a:tcPr marL="76200" marR="76200" marT="38100" marB="381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extLst>
                  <a:ext uri="{0D108BD9-81ED-4DB2-BD59-A6C34878D82A}">
                    <a16:rowId xmlns:a16="http://schemas.microsoft.com/office/drawing/2014/main" val="10001"/>
                  </a:ext>
                </a:extLst>
              </a:tr>
              <a:tr h="388620">
                <a:tc>
                  <a:txBody>
                    <a:bodyPr/>
                    <a:lstStyle/>
                    <a:p>
                      <a:pPr marL="0" indent="0">
                        <a:buNone/>
                      </a:pPr>
                      <a:r>
                        <a:rPr lang="en-US" sz="1050" dirty="0">
                          <a:solidFill>
                            <a:srgbClr val="1E2761"/>
                          </a:solidFill>
                          <a:latin typeface="Calibri" pitchFamily="34" charset="0"/>
                          <a:ea typeface="Calibri" pitchFamily="34" charset="-122"/>
                          <a:cs typeface="Calibri" pitchFamily="34" charset="-120"/>
                        </a:rPr>
                        <a:t>Epochs</a:t>
                      </a:r>
                      <a:endParaRPr lang="en-US" sz="1050" dirty="0">
                        <a:latin typeface="Calibri" charset="0"/>
                        <a:ea typeface="Calibri" charset="0"/>
                        <a:cs typeface="Calibri" charset="0"/>
                      </a:endParaRPr>
                    </a:p>
                  </a:txBody>
                  <a:tcPr marL="76200" marR="76200" marT="38100" marB="381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tc>
                  <a:txBody>
                    <a:bodyPr/>
                    <a:lstStyle/>
                    <a:p>
                      <a:pPr marL="0" indent="0">
                        <a:buNone/>
                      </a:pPr>
                      <a:r>
                        <a:rPr lang="en-US" sz="1050" b="1" dirty="0">
                          <a:solidFill>
                            <a:srgbClr val="1E2761"/>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76200" marR="76200" marT="38100" marB="381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extLst>
                  <a:ext uri="{0D108BD9-81ED-4DB2-BD59-A6C34878D82A}">
                    <a16:rowId xmlns:a16="http://schemas.microsoft.com/office/drawing/2014/main" val="10002"/>
                  </a:ext>
                </a:extLst>
              </a:tr>
              <a:tr h="388620">
                <a:tc>
                  <a:txBody>
                    <a:bodyPr/>
                    <a:lstStyle/>
                    <a:p>
                      <a:pPr marL="0" indent="0">
                        <a:buNone/>
                      </a:pPr>
                      <a:r>
                        <a:rPr lang="en-US" sz="1050" dirty="0">
                          <a:solidFill>
                            <a:srgbClr val="1E2761"/>
                          </a:solidFill>
                          <a:latin typeface="Calibri" pitchFamily="34" charset="0"/>
                          <a:ea typeface="Calibri" pitchFamily="34" charset="-122"/>
                          <a:cs typeface="Calibri" pitchFamily="34" charset="-120"/>
                        </a:rPr>
                        <a:t>Batch Size</a:t>
                      </a:r>
                      <a:endParaRPr lang="en-US" sz="1050" dirty="0">
                        <a:latin typeface="Calibri" charset="0"/>
                        <a:ea typeface="Calibri" charset="0"/>
                        <a:cs typeface="Calibri" charset="0"/>
                      </a:endParaRPr>
                    </a:p>
                  </a:txBody>
                  <a:tcPr marL="76200" marR="76200" marT="38100" marB="381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tc>
                  <a:txBody>
                    <a:bodyPr/>
                    <a:lstStyle/>
                    <a:p>
                      <a:pPr marL="0" indent="0">
                        <a:buNone/>
                      </a:pPr>
                      <a:r>
                        <a:rPr lang="en-US" sz="1050" b="1" dirty="0">
                          <a:solidFill>
                            <a:srgbClr val="1E2761"/>
                          </a:solidFill>
                          <a:latin typeface="Calibri" pitchFamily="34" charset="0"/>
                          <a:ea typeface="Calibri" pitchFamily="34" charset="-122"/>
                          <a:cs typeface="Calibri" pitchFamily="34" charset="-120"/>
                        </a:rPr>
                        <a:t>32</a:t>
                      </a:r>
                      <a:endParaRPr lang="en-US" sz="1050" dirty="0">
                        <a:latin typeface="Calibri" charset="0"/>
                        <a:ea typeface="Calibri" charset="0"/>
                        <a:cs typeface="Calibri" charset="0"/>
                      </a:endParaRPr>
                    </a:p>
                  </a:txBody>
                  <a:tcPr marL="76200" marR="76200" marT="38100" marB="381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extLst>
                  <a:ext uri="{0D108BD9-81ED-4DB2-BD59-A6C34878D82A}">
                    <a16:rowId xmlns:a16="http://schemas.microsoft.com/office/drawing/2014/main" val="10003"/>
                  </a:ext>
                </a:extLst>
              </a:tr>
              <a:tr h="388620">
                <a:tc>
                  <a:txBody>
                    <a:bodyPr/>
                    <a:lstStyle/>
                    <a:p>
                      <a:pPr marL="0" indent="0">
                        <a:buNone/>
                      </a:pPr>
                      <a:r>
                        <a:rPr lang="en-US" sz="1050" dirty="0">
                          <a:solidFill>
                            <a:srgbClr val="1E2761"/>
                          </a:solidFill>
                          <a:latin typeface="Calibri" pitchFamily="34" charset="0"/>
                          <a:ea typeface="Calibri" pitchFamily="34" charset="-122"/>
                          <a:cs typeface="Calibri" pitchFamily="34" charset="-120"/>
                        </a:rPr>
                        <a:t>Train/Test Split</a:t>
                      </a:r>
                      <a:endParaRPr lang="en-US" sz="1050" dirty="0">
                        <a:latin typeface="Calibri" charset="0"/>
                        <a:ea typeface="Calibri" charset="0"/>
                        <a:cs typeface="Calibri" charset="0"/>
                      </a:endParaRPr>
                    </a:p>
                  </a:txBody>
                  <a:tcPr marL="76200" marR="76200" marT="38100" marB="381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tc>
                  <a:txBody>
                    <a:bodyPr/>
                    <a:lstStyle/>
                    <a:p>
                      <a:pPr marL="0" indent="0">
                        <a:buNone/>
                      </a:pPr>
                      <a:r>
                        <a:rPr lang="en-US" sz="1050" b="1" dirty="0">
                          <a:solidFill>
                            <a:srgbClr val="1E2761"/>
                          </a:solidFill>
                          <a:latin typeface="Calibri" pitchFamily="34" charset="0"/>
                          <a:ea typeface="Calibri" pitchFamily="34" charset="-122"/>
                          <a:cs typeface="Calibri" pitchFamily="34" charset="-120"/>
                        </a:rPr>
                        <a:t>80% / 20%</a:t>
                      </a:r>
                      <a:endParaRPr lang="en-US" sz="1050" dirty="0">
                        <a:latin typeface="Calibri" charset="0"/>
                        <a:ea typeface="Calibri" charset="0"/>
                        <a:cs typeface="Calibri" charset="0"/>
                      </a:endParaRPr>
                    </a:p>
                  </a:txBody>
                  <a:tcPr marL="76200" marR="76200" marT="38100" marB="381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extLst>
                  <a:ext uri="{0D108BD9-81ED-4DB2-BD59-A6C34878D82A}">
                    <a16:rowId xmlns:a16="http://schemas.microsoft.com/office/drawing/2014/main" val="10004"/>
                  </a:ext>
                </a:extLst>
              </a:tr>
              <a:tr h="388620">
                <a:tc>
                  <a:txBody>
                    <a:bodyPr/>
                    <a:lstStyle/>
                    <a:p>
                      <a:pPr marL="0" indent="0">
                        <a:buNone/>
                      </a:pPr>
                      <a:r>
                        <a:rPr lang="en-US" sz="1050" dirty="0">
                          <a:solidFill>
                            <a:srgbClr val="1E2761"/>
                          </a:solidFill>
                          <a:latin typeface="Calibri" pitchFamily="34" charset="0"/>
                          <a:ea typeface="Calibri" pitchFamily="34" charset="-122"/>
                          <a:cs typeface="Calibri" pitchFamily="34" charset="-120"/>
                        </a:rPr>
                        <a:t>Early Stopping</a:t>
                      </a:r>
                      <a:endParaRPr lang="en-US" sz="1050" dirty="0">
                        <a:latin typeface="Calibri" charset="0"/>
                        <a:ea typeface="Calibri" charset="0"/>
                        <a:cs typeface="Calibri" charset="0"/>
                      </a:endParaRPr>
                    </a:p>
                  </a:txBody>
                  <a:tcPr marL="76200" marR="76200" marT="38100" marB="381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tc>
                  <a:txBody>
                    <a:bodyPr/>
                    <a:lstStyle/>
                    <a:p>
                      <a:pPr marL="0" indent="0">
                        <a:buNone/>
                      </a:pPr>
                      <a:r>
                        <a:rPr lang="en-US" sz="1050" b="1" dirty="0">
                          <a:solidFill>
                            <a:srgbClr val="1E2761"/>
                          </a:solidFill>
                          <a:latin typeface="Calibri" pitchFamily="34" charset="0"/>
                          <a:ea typeface="Calibri" pitchFamily="34" charset="-122"/>
                          <a:cs typeface="Calibri" pitchFamily="34" charset="-120"/>
                        </a:rPr>
                        <a:t>Patience = 10</a:t>
                      </a:r>
                      <a:endParaRPr lang="en-US" sz="1050" dirty="0">
                        <a:latin typeface="Calibri" charset="0"/>
                        <a:ea typeface="Calibri" charset="0"/>
                        <a:cs typeface="Calibri" charset="0"/>
                      </a:endParaRPr>
                    </a:p>
                  </a:txBody>
                  <a:tcPr marL="76200" marR="76200" marT="38100" marB="381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extLst>
                  <a:ext uri="{0D108BD9-81ED-4DB2-BD59-A6C34878D82A}">
                    <a16:rowId xmlns:a16="http://schemas.microsoft.com/office/drawing/2014/main" val="10005"/>
                  </a:ext>
                </a:extLst>
              </a:tr>
            </a:tbl>
          </a:graphicData>
        </a:graphic>
      </p:graphicFrame>
      <p:sp>
        <p:nvSpPr>
          <p:cNvPr id="30" name="Text 22"/>
          <p:cNvSpPr/>
          <p:nvPr/>
        </p:nvSpPr>
        <p:spPr>
          <a:xfrm>
            <a:off x="4846320" y="2450592"/>
            <a:ext cx="3108960" cy="292608"/>
          </a:xfrm>
          <a:prstGeom prst="rect">
            <a:avLst/>
          </a:prstGeom>
          <a:noFill/>
          <a:ln/>
        </p:spPr>
        <p:txBody>
          <a:bodyPr wrap="square"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Performance Metrics</a:t>
            </a:r>
            <a:endParaRPr lang="en-US" sz="1400" dirty="0"/>
          </a:p>
        </p:txBody>
      </p:sp>
      <p:sp>
        <p:nvSpPr>
          <p:cNvPr id="31" name="Shape 23"/>
          <p:cNvSpPr/>
          <p:nvPr/>
        </p:nvSpPr>
        <p:spPr>
          <a:xfrm>
            <a:off x="4846320" y="2779776"/>
            <a:ext cx="1325880" cy="1078992"/>
          </a:xfrm>
          <a:prstGeom prst="roundRect">
            <a:avLst>
              <a:gd name="adj" fmla="val 5085"/>
            </a:avLst>
          </a:prstGeom>
          <a:solidFill>
            <a:srgbClr val="1E2761"/>
          </a:solidFill>
          <a:ln/>
        </p:spPr>
      </p:sp>
      <p:sp>
        <p:nvSpPr>
          <p:cNvPr id="32" name="Text 24"/>
          <p:cNvSpPr/>
          <p:nvPr/>
        </p:nvSpPr>
        <p:spPr>
          <a:xfrm>
            <a:off x="4846320" y="2907792"/>
            <a:ext cx="1325880" cy="548640"/>
          </a:xfrm>
          <a:prstGeom prst="rect">
            <a:avLst/>
          </a:prstGeom>
          <a:noFill/>
          <a:ln/>
        </p:spPr>
        <p:txBody>
          <a:bodyPr wrap="square" rtlCol="0" anchor="ctr"/>
          <a:lstStyle/>
          <a:p>
            <a:pPr marL="0" indent="0" algn="ctr">
              <a:buNone/>
            </a:pPr>
            <a:r>
              <a:rPr lang="en-US" sz="1900" b="1" dirty="0">
                <a:solidFill>
                  <a:srgbClr val="00C2A8"/>
                </a:solidFill>
                <a:latin typeface="Cambria" pitchFamily="34" charset="0"/>
                <a:ea typeface="Cambria" pitchFamily="34" charset="-122"/>
                <a:cs typeface="Cambria" pitchFamily="34" charset="-120"/>
              </a:rPr>
              <a:t>36.94</a:t>
            </a:r>
            <a:endParaRPr lang="en-US" sz="1900" dirty="0"/>
          </a:p>
        </p:txBody>
      </p:sp>
      <p:sp>
        <p:nvSpPr>
          <p:cNvPr id="33" name="Text 25"/>
          <p:cNvSpPr/>
          <p:nvPr/>
        </p:nvSpPr>
        <p:spPr>
          <a:xfrm>
            <a:off x="4846320" y="3493008"/>
            <a:ext cx="1325880" cy="256032"/>
          </a:xfrm>
          <a:prstGeom prst="rect">
            <a:avLst/>
          </a:prstGeom>
          <a:noFill/>
          <a:ln/>
        </p:spPr>
        <p:txBody>
          <a:bodyPr wrap="square" rtlCol="0" anchor="ctr"/>
          <a:lstStyle/>
          <a:p>
            <a:pPr marL="0" indent="0" algn="ctr">
              <a:buNone/>
            </a:pPr>
            <a:r>
              <a:rPr lang="en-US" sz="950" kern="0" spc="50" dirty="0">
                <a:solidFill>
                  <a:srgbClr val="CADCFC"/>
                </a:solidFill>
                <a:latin typeface="Calibri" pitchFamily="34" charset="0"/>
                <a:ea typeface="Calibri" pitchFamily="34" charset="-122"/>
                <a:cs typeface="Calibri" pitchFamily="34" charset="-120"/>
              </a:rPr>
              <a:t>RMSE</a:t>
            </a:r>
            <a:endParaRPr lang="en-US" sz="950" dirty="0"/>
          </a:p>
        </p:txBody>
      </p:sp>
      <p:sp>
        <p:nvSpPr>
          <p:cNvPr id="34" name="Shape 26"/>
          <p:cNvSpPr/>
          <p:nvPr/>
        </p:nvSpPr>
        <p:spPr>
          <a:xfrm>
            <a:off x="6291072" y="2779776"/>
            <a:ext cx="1325880" cy="1078992"/>
          </a:xfrm>
          <a:prstGeom prst="roundRect">
            <a:avLst>
              <a:gd name="adj" fmla="val 5085"/>
            </a:avLst>
          </a:prstGeom>
          <a:solidFill>
            <a:srgbClr val="1E2761"/>
          </a:solidFill>
          <a:ln/>
        </p:spPr>
      </p:sp>
      <p:sp>
        <p:nvSpPr>
          <p:cNvPr id="35" name="Text 27"/>
          <p:cNvSpPr/>
          <p:nvPr/>
        </p:nvSpPr>
        <p:spPr>
          <a:xfrm>
            <a:off x="6291072" y="2907792"/>
            <a:ext cx="1325880" cy="548640"/>
          </a:xfrm>
          <a:prstGeom prst="rect">
            <a:avLst/>
          </a:prstGeom>
          <a:noFill/>
          <a:ln/>
        </p:spPr>
        <p:txBody>
          <a:bodyPr wrap="square" rtlCol="0" anchor="ctr"/>
          <a:lstStyle/>
          <a:p>
            <a:pPr marL="0" indent="0" algn="ctr">
              <a:buNone/>
            </a:pPr>
            <a:r>
              <a:rPr lang="en-US" sz="1900" b="1" dirty="0">
                <a:solidFill>
                  <a:srgbClr val="00C2A8"/>
                </a:solidFill>
                <a:latin typeface="Cambria" pitchFamily="34" charset="0"/>
                <a:ea typeface="Cambria" pitchFamily="34" charset="-122"/>
                <a:cs typeface="Cambria" pitchFamily="34" charset="-120"/>
              </a:rPr>
              <a:t>28.33</a:t>
            </a:r>
            <a:endParaRPr lang="en-US" sz="1900" dirty="0"/>
          </a:p>
        </p:txBody>
      </p:sp>
      <p:sp>
        <p:nvSpPr>
          <p:cNvPr id="36" name="Text 28"/>
          <p:cNvSpPr/>
          <p:nvPr/>
        </p:nvSpPr>
        <p:spPr>
          <a:xfrm>
            <a:off x="6291072" y="3493008"/>
            <a:ext cx="1325880" cy="256032"/>
          </a:xfrm>
          <a:prstGeom prst="rect">
            <a:avLst/>
          </a:prstGeom>
          <a:noFill/>
          <a:ln/>
        </p:spPr>
        <p:txBody>
          <a:bodyPr wrap="square" rtlCol="0" anchor="ctr"/>
          <a:lstStyle/>
          <a:p>
            <a:pPr marL="0" indent="0" algn="ctr">
              <a:buNone/>
            </a:pPr>
            <a:r>
              <a:rPr lang="en-US" sz="950" kern="0" spc="50" dirty="0">
                <a:solidFill>
                  <a:srgbClr val="CADCFC"/>
                </a:solidFill>
                <a:latin typeface="Calibri" pitchFamily="34" charset="0"/>
                <a:ea typeface="Calibri" pitchFamily="34" charset="-122"/>
                <a:cs typeface="Calibri" pitchFamily="34" charset="-120"/>
              </a:rPr>
              <a:t>MAE</a:t>
            </a:r>
            <a:endParaRPr lang="en-US" sz="950" dirty="0"/>
          </a:p>
        </p:txBody>
      </p:sp>
      <p:sp>
        <p:nvSpPr>
          <p:cNvPr id="37" name="Shape 29"/>
          <p:cNvSpPr/>
          <p:nvPr/>
        </p:nvSpPr>
        <p:spPr>
          <a:xfrm>
            <a:off x="4846320" y="3995928"/>
            <a:ext cx="1325880" cy="1078992"/>
          </a:xfrm>
          <a:prstGeom prst="roundRect">
            <a:avLst>
              <a:gd name="adj" fmla="val 5085"/>
            </a:avLst>
          </a:prstGeom>
          <a:solidFill>
            <a:srgbClr val="1E2761"/>
          </a:solidFill>
          <a:ln/>
        </p:spPr>
      </p:sp>
      <p:sp>
        <p:nvSpPr>
          <p:cNvPr id="38" name="Text 30"/>
          <p:cNvSpPr/>
          <p:nvPr/>
        </p:nvSpPr>
        <p:spPr>
          <a:xfrm>
            <a:off x="4846320" y="4123944"/>
            <a:ext cx="1325880" cy="548640"/>
          </a:xfrm>
          <a:prstGeom prst="rect">
            <a:avLst/>
          </a:prstGeom>
          <a:noFill/>
          <a:ln/>
        </p:spPr>
        <p:txBody>
          <a:bodyPr wrap="square" rtlCol="0" anchor="ctr"/>
          <a:lstStyle/>
          <a:p>
            <a:pPr marL="0" indent="0" algn="ctr">
              <a:buNone/>
            </a:pPr>
            <a:r>
              <a:rPr lang="en-US" sz="1900" b="1" dirty="0">
                <a:solidFill>
                  <a:srgbClr val="00C2A8"/>
                </a:solidFill>
                <a:latin typeface="Cambria" pitchFamily="34" charset="0"/>
                <a:ea typeface="Cambria" pitchFamily="34" charset="-122"/>
                <a:cs typeface="Cambria" pitchFamily="34" charset="-120"/>
              </a:rPr>
              <a:t>2.00%</a:t>
            </a:r>
            <a:endParaRPr lang="en-US" sz="1900" dirty="0"/>
          </a:p>
        </p:txBody>
      </p:sp>
      <p:sp>
        <p:nvSpPr>
          <p:cNvPr id="39" name="Text 31"/>
          <p:cNvSpPr/>
          <p:nvPr/>
        </p:nvSpPr>
        <p:spPr>
          <a:xfrm>
            <a:off x="4846320" y="4709160"/>
            <a:ext cx="1325880" cy="256032"/>
          </a:xfrm>
          <a:prstGeom prst="rect">
            <a:avLst/>
          </a:prstGeom>
          <a:noFill/>
          <a:ln/>
        </p:spPr>
        <p:txBody>
          <a:bodyPr wrap="square" rtlCol="0" anchor="ctr"/>
          <a:lstStyle/>
          <a:p>
            <a:pPr marL="0" indent="0" algn="ctr">
              <a:buNone/>
            </a:pPr>
            <a:r>
              <a:rPr lang="en-US" sz="950" kern="0" spc="50" dirty="0">
                <a:solidFill>
                  <a:srgbClr val="CADCFC"/>
                </a:solidFill>
                <a:latin typeface="Calibri" pitchFamily="34" charset="0"/>
                <a:ea typeface="Calibri" pitchFamily="34" charset="-122"/>
                <a:cs typeface="Calibri" pitchFamily="34" charset="-120"/>
              </a:rPr>
              <a:t>MAPE</a:t>
            </a:r>
            <a:endParaRPr lang="en-US" sz="950" dirty="0"/>
          </a:p>
        </p:txBody>
      </p:sp>
      <p:sp>
        <p:nvSpPr>
          <p:cNvPr id="40" name="Shape 32"/>
          <p:cNvSpPr/>
          <p:nvPr/>
        </p:nvSpPr>
        <p:spPr>
          <a:xfrm>
            <a:off x="6291072" y="3995928"/>
            <a:ext cx="1325880" cy="1078992"/>
          </a:xfrm>
          <a:prstGeom prst="roundRect">
            <a:avLst>
              <a:gd name="adj" fmla="val 5085"/>
            </a:avLst>
          </a:prstGeom>
          <a:solidFill>
            <a:srgbClr val="1E2761"/>
          </a:solidFill>
          <a:ln/>
        </p:spPr>
      </p:sp>
      <p:sp>
        <p:nvSpPr>
          <p:cNvPr id="41" name="Text 33"/>
          <p:cNvSpPr/>
          <p:nvPr/>
        </p:nvSpPr>
        <p:spPr>
          <a:xfrm>
            <a:off x="6291072" y="4123944"/>
            <a:ext cx="1325880" cy="548640"/>
          </a:xfrm>
          <a:prstGeom prst="rect">
            <a:avLst/>
          </a:prstGeom>
          <a:noFill/>
          <a:ln/>
        </p:spPr>
        <p:txBody>
          <a:bodyPr wrap="square" rtlCol="0" anchor="ctr"/>
          <a:lstStyle/>
          <a:p>
            <a:pPr marL="0" indent="0" algn="ctr">
              <a:buNone/>
            </a:pPr>
            <a:r>
              <a:rPr lang="en-US" sz="1900" b="1" dirty="0">
                <a:solidFill>
                  <a:srgbClr val="00C2A8"/>
                </a:solidFill>
                <a:latin typeface="Cambria" pitchFamily="34" charset="0"/>
                <a:ea typeface="Cambria" pitchFamily="34" charset="-122"/>
                <a:cs typeface="Cambria" pitchFamily="34" charset="-120"/>
              </a:rPr>
              <a:t>0.8650</a:t>
            </a:r>
            <a:endParaRPr lang="en-US" sz="1900" dirty="0"/>
          </a:p>
        </p:txBody>
      </p:sp>
      <p:sp>
        <p:nvSpPr>
          <p:cNvPr id="42" name="Text 34"/>
          <p:cNvSpPr/>
          <p:nvPr/>
        </p:nvSpPr>
        <p:spPr>
          <a:xfrm>
            <a:off x="6291072" y="4709160"/>
            <a:ext cx="1325880" cy="256032"/>
          </a:xfrm>
          <a:prstGeom prst="rect">
            <a:avLst/>
          </a:prstGeom>
          <a:noFill/>
          <a:ln/>
        </p:spPr>
        <p:txBody>
          <a:bodyPr wrap="square" rtlCol="0" anchor="ctr"/>
          <a:lstStyle/>
          <a:p>
            <a:pPr marL="0" indent="0" algn="ctr">
              <a:buNone/>
            </a:pPr>
            <a:r>
              <a:rPr lang="en-US" sz="950" kern="0" spc="50" dirty="0">
                <a:solidFill>
                  <a:srgbClr val="CADCFC"/>
                </a:solidFill>
                <a:latin typeface="Calibri" pitchFamily="34" charset="0"/>
                <a:ea typeface="Calibri" pitchFamily="34" charset="-122"/>
                <a:cs typeface="Calibri" pitchFamily="34" charset="-120"/>
              </a:rPr>
              <a:t>R²</a:t>
            </a:r>
            <a:endParaRPr lang="en-US" sz="950" dirty="0"/>
          </a:p>
        </p:txBody>
      </p:sp>
      <p:sp>
        <p:nvSpPr>
          <p:cNvPr id="43" name="Shape 35"/>
          <p:cNvSpPr/>
          <p:nvPr/>
        </p:nvSpPr>
        <p:spPr>
          <a:xfrm>
            <a:off x="7866888" y="1777861"/>
            <a:ext cx="3840480" cy="3430253"/>
          </a:xfrm>
          <a:prstGeom prst="roundRect">
            <a:avLst>
              <a:gd name="adj" fmla="val 2254"/>
            </a:avLst>
          </a:prstGeom>
          <a:solidFill>
            <a:srgbClr val="FFFFFF"/>
          </a:solidFill>
          <a:ln w="12700">
            <a:solidFill>
              <a:srgbClr val="E3E8F5"/>
            </a:solidFill>
            <a:prstDash val="solid"/>
          </a:ln>
        </p:spPr>
      </p:sp>
      <p:sp>
        <p:nvSpPr>
          <p:cNvPr id="44" name="Text 36"/>
          <p:cNvSpPr/>
          <p:nvPr/>
        </p:nvSpPr>
        <p:spPr>
          <a:xfrm>
            <a:off x="7955280" y="1777861"/>
            <a:ext cx="3474720" cy="256032"/>
          </a:xfrm>
          <a:prstGeom prst="rect">
            <a:avLst/>
          </a:prstGeom>
          <a:noFill/>
          <a:ln/>
        </p:spPr>
        <p:txBody>
          <a:bodyPr wrap="square"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Actual vs Predicted Closing Price</a:t>
            </a:r>
            <a:endParaRPr lang="en-US" sz="1050" dirty="0"/>
          </a:p>
        </p:txBody>
      </p:sp>
      <p:pic>
        <p:nvPicPr>
          <p:cNvPr id="45" name="Image 5" descr="/home/claude/ppt/imgs/Screenshot_2026-06-28_085337.png"/>
          <p:cNvPicPr>
            <a:picLocks noChangeAspect="1"/>
          </p:cNvPicPr>
          <p:nvPr/>
        </p:nvPicPr>
        <p:blipFill>
          <a:blip r:embed="rId7"/>
          <a:stretch>
            <a:fillRect/>
          </a:stretch>
        </p:blipFill>
        <p:spPr>
          <a:xfrm>
            <a:off x="7955280" y="2124787"/>
            <a:ext cx="3566160" cy="2900992"/>
          </a:xfrm>
          <a:prstGeom prst="rect">
            <a:avLst/>
          </a:prstGeom>
        </p:spPr>
      </p:pic>
      <p:sp>
        <p:nvSpPr>
          <p:cNvPr id="46" name="Text 37"/>
          <p:cNvSpPr/>
          <p:nvPr/>
        </p:nvSpPr>
        <p:spPr>
          <a:xfrm>
            <a:off x="548640" y="6035040"/>
            <a:ext cx="7315200" cy="457200"/>
          </a:xfrm>
          <a:prstGeom prst="rect">
            <a:avLst/>
          </a:prstGeom>
          <a:noFill/>
          <a:ln/>
        </p:spPr>
        <p:txBody>
          <a:bodyPr wrap="square" rtlCol="0" anchor="ctr"/>
          <a:lstStyle/>
          <a:p>
            <a:pPr marL="0" indent="0">
              <a:buNone/>
            </a:pPr>
            <a:r>
              <a:rPr lang="en-US" sz="1050" i="1" dirty="0">
                <a:solidFill>
                  <a:srgbClr val="5B6B9E"/>
                </a:solidFill>
                <a:latin typeface="Calibri" pitchFamily="34" charset="0"/>
                <a:ea typeface="Calibri" pitchFamily="34" charset="-122"/>
                <a:cs typeface="Calibri" pitchFamily="34" charset="-120"/>
              </a:rPr>
              <a:t>LSTM demonstrates strong predictive performance by directly forecasting closing prices from normalized historical data.</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4572000" cy="274320"/>
          </a:xfrm>
          <a:prstGeom prst="rect">
            <a:avLst/>
          </a:prstGeom>
          <a:noFill/>
          <a:ln/>
        </p:spPr>
        <p:txBody>
          <a:bodyPr wrap="square" rtlCol="0" anchor="ctr"/>
          <a:lstStyle/>
          <a:p>
            <a:pPr marL="0" indent="0">
              <a:buNone/>
            </a:pPr>
            <a:r>
              <a:rPr lang="en-US" sz="1200" b="1" kern="0" spc="200" dirty="0">
                <a:solidFill>
                  <a:srgbClr val="00C2A8"/>
                </a:solidFill>
                <a:latin typeface="Calibri" pitchFamily="34" charset="0"/>
                <a:ea typeface="Calibri" pitchFamily="34" charset="-122"/>
                <a:cs typeface="Calibri" pitchFamily="34" charset="-120"/>
              </a:rPr>
              <a:t>MODEL 2</a:t>
            </a:r>
            <a:endParaRPr lang="en-US" sz="1200" dirty="0"/>
          </a:p>
        </p:txBody>
      </p:sp>
      <p:sp>
        <p:nvSpPr>
          <p:cNvPr id="3" name="Text 1"/>
          <p:cNvSpPr/>
          <p:nvPr/>
        </p:nvSpPr>
        <p:spPr>
          <a:xfrm>
            <a:off x="548640" y="621792"/>
            <a:ext cx="105156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DeepAR — Probabilistic Forecasting via GluonTS</a:t>
            </a:r>
            <a:endParaRPr lang="en-US" sz="2800" dirty="0"/>
          </a:p>
        </p:txBody>
      </p:sp>
      <p:sp>
        <p:nvSpPr>
          <p:cNvPr id="4" name="Shape 2"/>
          <p:cNvSpPr/>
          <p:nvPr/>
        </p:nvSpPr>
        <p:spPr>
          <a:xfrm>
            <a:off x="548640" y="1371600"/>
            <a:ext cx="3657600" cy="1325880"/>
          </a:xfrm>
          <a:prstGeom prst="roundRect">
            <a:avLst>
              <a:gd name="adj" fmla="val 5517"/>
            </a:avLst>
          </a:prstGeom>
          <a:solidFill>
            <a:srgbClr val="F4F7FE"/>
          </a:solidFill>
          <a:ln/>
        </p:spPr>
      </p:sp>
      <p:sp>
        <p:nvSpPr>
          <p:cNvPr id="5" name="Text 3"/>
          <p:cNvSpPr/>
          <p:nvPr/>
        </p:nvSpPr>
        <p:spPr>
          <a:xfrm>
            <a:off x="731520" y="1463040"/>
            <a:ext cx="3291840" cy="274320"/>
          </a:xfrm>
          <a:prstGeom prst="rect">
            <a:avLst/>
          </a:prstGeom>
          <a:noFill/>
          <a:ln/>
        </p:spPr>
        <p:txBody>
          <a:bodyPr wrap="square"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Why DeepAR?</a:t>
            </a:r>
            <a:endParaRPr lang="en-US" sz="1250" dirty="0"/>
          </a:p>
        </p:txBody>
      </p:sp>
      <p:sp>
        <p:nvSpPr>
          <p:cNvPr id="6" name="Text 4"/>
          <p:cNvSpPr/>
          <p:nvPr/>
        </p:nvSpPr>
        <p:spPr>
          <a:xfrm>
            <a:off x="731520" y="1755648"/>
            <a:ext cx="3291840" cy="914400"/>
          </a:xfrm>
          <a:prstGeom prst="rect">
            <a:avLst/>
          </a:prstGeom>
          <a:noFill/>
          <a:ln/>
        </p:spPr>
        <p:txBody>
          <a:bodyPr wrap="square"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LSTM predicts: </a:t>
            </a:r>
            <a:endParaRPr lang="en-US" sz="1050" dirty="0"/>
          </a:p>
          <a:p>
            <a:pPr marL="0" indent="0">
              <a:buNone/>
            </a:pPr>
            <a:r>
              <a:rPr lang="en-US" sz="1050" dirty="0">
                <a:solidFill>
                  <a:srgbClr val="5B6B9E"/>
                </a:solidFill>
                <a:latin typeface="Calibri" pitchFamily="34" charset="0"/>
                <a:ea typeface="Calibri" pitchFamily="34" charset="-122"/>
                <a:cs typeface="Calibri" pitchFamily="34" charset="-120"/>
              </a:rPr>
              <a:t>Opening Price directly</a:t>
            </a:r>
            <a:endParaRPr lang="en-US" sz="1050" dirty="0"/>
          </a:p>
          <a:p>
            <a:pPr marL="0" indent="0">
              <a:buNone/>
            </a:pPr>
            <a:r>
              <a:rPr lang="en-US" sz="1050" b="1" dirty="0">
                <a:solidFill>
                  <a:srgbClr val="1E2761"/>
                </a:solidFill>
                <a:latin typeface="Calibri" pitchFamily="34" charset="0"/>
                <a:ea typeface="Calibri" pitchFamily="34" charset="-122"/>
                <a:cs typeface="Calibri" pitchFamily="34" charset="-120"/>
              </a:rPr>
              <a:t>DeepAR predicts: </a:t>
            </a:r>
            <a:endParaRPr lang="en-US" sz="1050" dirty="0"/>
          </a:p>
          <a:p>
            <a:pPr marL="0" indent="0">
              <a:buNone/>
            </a:pPr>
            <a:r>
              <a:rPr lang="en-US" sz="1050" dirty="0">
                <a:solidFill>
                  <a:srgbClr val="5B6B9E"/>
                </a:solidFill>
                <a:latin typeface="Calibri" pitchFamily="34" charset="0"/>
                <a:ea typeface="Calibri" pitchFamily="34" charset="-122"/>
                <a:cs typeface="Calibri" pitchFamily="34" charset="-120"/>
              </a:rPr>
              <a:t>Daily Log Returns (→ converted to price)</a:t>
            </a:r>
            <a:endParaRPr lang="en-US" sz="1050" dirty="0"/>
          </a:p>
        </p:txBody>
      </p:sp>
      <p:sp>
        <p:nvSpPr>
          <p:cNvPr id="7" name="Shape 5"/>
          <p:cNvSpPr/>
          <p:nvPr/>
        </p:nvSpPr>
        <p:spPr>
          <a:xfrm>
            <a:off x="4430268" y="1348740"/>
            <a:ext cx="4160520" cy="1325880"/>
          </a:xfrm>
          <a:prstGeom prst="roundRect">
            <a:avLst>
              <a:gd name="adj" fmla="val 5517"/>
            </a:avLst>
          </a:prstGeom>
          <a:solidFill>
            <a:srgbClr val="1E2761"/>
          </a:solidFill>
          <a:ln/>
        </p:spPr>
      </p:sp>
      <p:sp>
        <p:nvSpPr>
          <p:cNvPr id="8" name="Text 6"/>
          <p:cNvSpPr/>
          <p:nvPr/>
        </p:nvSpPr>
        <p:spPr>
          <a:xfrm>
            <a:off x="4526280" y="1444752"/>
            <a:ext cx="3840480" cy="237744"/>
          </a:xfrm>
          <a:prstGeom prst="rect">
            <a:avLst/>
          </a:prstGeom>
          <a:noFill/>
          <a:ln/>
        </p:spPr>
        <p:txBody>
          <a:bodyPr wrap="square" rtlCol="0" anchor="ctr"/>
          <a:lstStyle/>
          <a:p>
            <a:pPr marL="0" indent="0">
              <a:buNone/>
            </a:pPr>
            <a:r>
              <a:rPr lang="en-US" sz="1100" b="1" dirty="0">
                <a:solidFill>
                  <a:srgbClr val="FFFFFF"/>
                </a:solidFill>
                <a:latin typeface="Cambria" pitchFamily="34" charset="0"/>
                <a:ea typeface="Cambria" pitchFamily="34" charset="-122"/>
                <a:cs typeface="Cambria" pitchFamily="34" charset="-120"/>
              </a:rPr>
              <a:t>Forecasting Pipeline</a:t>
            </a:r>
            <a:endParaRPr lang="en-US" sz="1100" dirty="0"/>
          </a:p>
        </p:txBody>
      </p:sp>
      <p:sp>
        <p:nvSpPr>
          <p:cNvPr id="9" name="Shape 7"/>
          <p:cNvSpPr/>
          <p:nvPr/>
        </p:nvSpPr>
        <p:spPr>
          <a:xfrm>
            <a:off x="4526280" y="1737360"/>
            <a:ext cx="713232" cy="777240"/>
          </a:xfrm>
          <a:prstGeom prst="roundRect">
            <a:avLst>
              <a:gd name="adj" fmla="val 7692"/>
            </a:avLst>
          </a:prstGeom>
          <a:solidFill>
            <a:srgbClr val="151C49"/>
          </a:solidFill>
          <a:ln/>
        </p:spPr>
      </p:sp>
      <p:sp>
        <p:nvSpPr>
          <p:cNvPr id="10" name="Text 8"/>
          <p:cNvSpPr/>
          <p:nvPr/>
        </p:nvSpPr>
        <p:spPr>
          <a:xfrm>
            <a:off x="4526280" y="1737360"/>
            <a:ext cx="713232" cy="777240"/>
          </a:xfrm>
          <a:prstGeom prst="rect">
            <a:avLst/>
          </a:prstGeom>
          <a:noFill/>
          <a:ln/>
        </p:spPr>
        <p:txBody>
          <a:bodyPr wrap="square" rtlCol="0" anchor="ctr"/>
          <a:lstStyle/>
          <a:p>
            <a:pPr marL="0" indent="0" algn="ctr">
              <a:buNone/>
            </a:pPr>
            <a:r>
              <a:rPr lang="en-US" sz="760" b="1" dirty="0">
                <a:solidFill>
                  <a:srgbClr val="00C2A8"/>
                </a:solidFill>
                <a:latin typeface="Calibri" pitchFamily="34" charset="0"/>
                <a:ea typeface="Calibri" pitchFamily="34" charset="-122"/>
                <a:cs typeface="Calibri" pitchFamily="34" charset="-120"/>
              </a:rPr>
              <a:t>Historical</a:t>
            </a:r>
            <a:endParaRPr lang="en-US" sz="760" dirty="0"/>
          </a:p>
          <a:p>
            <a:pPr marL="0" indent="0" algn="ctr">
              <a:buNone/>
            </a:pPr>
            <a:r>
              <a:rPr lang="en-US" sz="760" b="1" dirty="0">
                <a:solidFill>
                  <a:srgbClr val="00C2A8"/>
                </a:solidFill>
                <a:latin typeface="Calibri" pitchFamily="34" charset="0"/>
                <a:ea typeface="Calibri" pitchFamily="34" charset="-122"/>
                <a:cs typeface="Calibri" pitchFamily="34" charset="-120"/>
              </a:rPr>
              <a:t>Prices</a:t>
            </a:r>
            <a:endParaRPr lang="en-US" sz="760" dirty="0"/>
          </a:p>
        </p:txBody>
      </p:sp>
      <p:sp>
        <p:nvSpPr>
          <p:cNvPr id="11" name="Text 9"/>
          <p:cNvSpPr/>
          <p:nvPr/>
        </p:nvSpPr>
        <p:spPr>
          <a:xfrm>
            <a:off x="5239512" y="1737360"/>
            <a:ext cx="82296" cy="777240"/>
          </a:xfrm>
          <a:prstGeom prst="rect">
            <a:avLst/>
          </a:prstGeom>
          <a:noFill/>
          <a:ln/>
        </p:spPr>
        <p:txBody>
          <a:bodyPr wrap="square" rtlCol="0" anchor="ctr"/>
          <a:lstStyle/>
          <a:p>
            <a:pPr marL="0" indent="0" algn="ctr">
              <a:buNone/>
            </a:pPr>
            <a:r>
              <a:rPr lang="en-US" sz="1100" dirty="0">
                <a:solidFill>
                  <a:srgbClr val="CADCFC"/>
                </a:solidFill>
              </a:rPr>
              <a:t>→</a:t>
            </a:r>
            <a:endParaRPr lang="en-US" sz="1100" dirty="0"/>
          </a:p>
        </p:txBody>
      </p:sp>
      <p:sp>
        <p:nvSpPr>
          <p:cNvPr id="12" name="Shape 10"/>
          <p:cNvSpPr/>
          <p:nvPr/>
        </p:nvSpPr>
        <p:spPr>
          <a:xfrm>
            <a:off x="5340096" y="1737360"/>
            <a:ext cx="713232" cy="777240"/>
          </a:xfrm>
          <a:prstGeom prst="roundRect">
            <a:avLst>
              <a:gd name="adj" fmla="val 7692"/>
            </a:avLst>
          </a:prstGeom>
          <a:solidFill>
            <a:srgbClr val="151C49"/>
          </a:solidFill>
          <a:ln/>
        </p:spPr>
      </p:sp>
      <p:sp>
        <p:nvSpPr>
          <p:cNvPr id="13" name="Text 11"/>
          <p:cNvSpPr/>
          <p:nvPr/>
        </p:nvSpPr>
        <p:spPr>
          <a:xfrm>
            <a:off x="5340096" y="1737360"/>
            <a:ext cx="713232" cy="777240"/>
          </a:xfrm>
          <a:prstGeom prst="rect">
            <a:avLst/>
          </a:prstGeom>
          <a:noFill/>
          <a:ln/>
        </p:spPr>
        <p:txBody>
          <a:bodyPr wrap="square" rtlCol="0" anchor="ctr"/>
          <a:lstStyle/>
          <a:p>
            <a:pPr marL="0" indent="0" algn="ctr">
              <a:buNone/>
            </a:pPr>
            <a:r>
              <a:rPr lang="en-US" sz="760" b="1" dirty="0">
                <a:solidFill>
                  <a:srgbClr val="00C2A8"/>
                </a:solidFill>
                <a:latin typeface="Calibri" pitchFamily="34" charset="0"/>
                <a:ea typeface="Calibri" pitchFamily="34" charset="-122"/>
                <a:cs typeface="Calibri" pitchFamily="34" charset="-120"/>
              </a:rPr>
              <a:t>Log</a:t>
            </a:r>
            <a:endParaRPr lang="en-US" sz="760" dirty="0"/>
          </a:p>
          <a:p>
            <a:pPr marL="0" indent="0" algn="ctr">
              <a:buNone/>
            </a:pPr>
            <a:r>
              <a:rPr lang="en-US" sz="760" b="1" dirty="0">
                <a:solidFill>
                  <a:srgbClr val="00C2A8"/>
                </a:solidFill>
                <a:latin typeface="Calibri" pitchFamily="34" charset="0"/>
                <a:ea typeface="Calibri" pitchFamily="34" charset="-122"/>
                <a:cs typeface="Calibri" pitchFamily="34" charset="-120"/>
              </a:rPr>
              <a:t>Returns</a:t>
            </a:r>
            <a:endParaRPr lang="en-US" sz="760" dirty="0"/>
          </a:p>
        </p:txBody>
      </p:sp>
      <p:sp>
        <p:nvSpPr>
          <p:cNvPr id="14" name="Text 12"/>
          <p:cNvSpPr/>
          <p:nvPr/>
        </p:nvSpPr>
        <p:spPr>
          <a:xfrm>
            <a:off x="6053328" y="1737360"/>
            <a:ext cx="82296" cy="777240"/>
          </a:xfrm>
          <a:prstGeom prst="rect">
            <a:avLst/>
          </a:prstGeom>
          <a:noFill/>
          <a:ln/>
        </p:spPr>
        <p:txBody>
          <a:bodyPr wrap="square" rtlCol="0" anchor="ctr"/>
          <a:lstStyle/>
          <a:p>
            <a:pPr marL="0" indent="0" algn="ctr">
              <a:buNone/>
            </a:pPr>
            <a:r>
              <a:rPr lang="en-US" sz="1100" dirty="0">
                <a:solidFill>
                  <a:srgbClr val="CADCFC"/>
                </a:solidFill>
              </a:rPr>
              <a:t>→</a:t>
            </a:r>
            <a:endParaRPr lang="en-US" sz="1100" dirty="0"/>
          </a:p>
        </p:txBody>
      </p:sp>
      <p:sp>
        <p:nvSpPr>
          <p:cNvPr id="15" name="Shape 13"/>
          <p:cNvSpPr/>
          <p:nvPr/>
        </p:nvSpPr>
        <p:spPr>
          <a:xfrm>
            <a:off x="6153912" y="1737360"/>
            <a:ext cx="713232" cy="777240"/>
          </a:xfrm>
          <a:prstGeom prst="roundRect">
            <a:avLst>
              <a:gd name="adj" fmla="val 7692"/>
            </a:avLst>
          </a:prstGeom>
          <a:solidFill>
            <a:srgbClr val="151C49"/>
          </a:solidFill>
          <a:ln/>
        </p:spPr>
      </p:sp>
      <p:sp>
        <p:nvSpPr>
          <p:cNvPr id="16" name="Text 14"/>
          <p:cNvSpPr/>
          <p:nvPr/>
        </p:nvSpPr>
        <p:spPr>
          <a:xfrm>
            <a:off x="6153912" y="1737360"/>
            <a:ext cx="713232" cy="777240"/>
          </a:xfrm>
          <a:prstGeom prst="rect">
            <a:avLst/>
          </a:prstGeom>
          <a:noFill/>
          <a:ln/>
        </p:spPr>
        <p:txBody>
          <a:bodyPr wrap="square" rtlCol="0" anchor="ctr"/>
          <a:lstStyle/>
          <a:p>
            <a:pPr marL="0" indent="0" algn="ctr">
              <a:buNone/>
            </a:pPr>
            <a:r>
              <a:rPr lang="en-US" sz="760" b="1" dirty="0">
                <a:solidFill>
                  <a:srgbClr val="00C2A8"/>
                </a:solidFill>
                <a:latin typeface="Calibri" pitchFamily="34" charset="0"/>
                <a:ea typeface="Calibri" pitchFamily="34" charset="-122"/>
                <a:cs typeface="Calibri" pitchFamily="34" charset="-120"/>
              </a:rPr>
              <a:t>PyTorch</a:t>
            </a:r>
            <a:endParaRPr lang="en-US" sz="760" dirty="0"/>
          </a:p>
          <a:p>
            <a:pPr marL="0" indent="0" algn="ctr">
              <a:buNone/>
            </a:pPr>
            <a:r>
              <a:rPr lang="en-US" sz="760" b="1" dirty="0">
                <a:solidFill>
                  <a:srgbClr val="00C2A8"/>
                </a:solidFill>
                <a:latin typeface="Calibri" pitchFamily="34" charset="0"/>
                <a:ea typeface="Calibri" pitchFamily="34" charset="-122"/>
                <a:cs typeface="Calibri" pitchFamily="34" charset="-120"/>
              </a:rPr>
              <a:t>(GluonTS)</a:t>
            </a:r>
            <a:endParaRPr lang="en-US" sz="760" dirty="0"/>
          </a:p>
        </p:txBody>
      </p:sp>
      <p:sp>
        <p:nvSpPr>
          <p:cNvPr id="17" name="Text 15"/>
          <p:cNvSpPr/>
          <p:nvPr/>
        </p:nvSpPr>
        <p:spPr>
          <a:xfrm>
            <a:off x="6867144" y="1737360"/>
            <a:ext cx="82296" cy="777240"/>
          </a:xfrm>
          <a:prstGeom prst="rect">
            <a:avLst/>
          </a:prstGeom>
          <a:noFill/>
          <a:ln/>
        </p:spPr>
        <p:txBody>
          <a:bodyPr wrap="square" rtlCol="0" anchor="ctr"/>
          <a:lstStyle/>
          <a:p>
            <a:pPr marL="0" indent="0" algn="ctr">
              <a:buNone/>
            </a:pPr>
            <a:r>
              <a:rPr lang="en-US" sz="1100" dirty="0">
                <a:solidFill>
                  <a:srgbClr val="CADCFC"/>
                </a:solidFill>
              </a:rPr>
              <a:t>→</a:t>
            </a:r>
            <a:endParaRPr lang="en-US" sz="1100" dirty="0"/>
          </a:p>
        </p:txBody>
      </p:sp>
      <p:sp>
        <p:nvSpPr>
          <p:cNvPr id="18" name="Shape 16"/>
          <p:cNvSpPr/>
          <p:nvPr/>
        </p:nvSpPr>
        <p:spPr>
          <a:xfrm>
            <a:off x="6967728" y="1737360"/>
            <a:ext cx="713232" cy="777240"/>
          </a:xfrm>
          <a:prstGeom prst="roundRect">
            <a:avLst>
              <a:gd name="adj" fmla="val 7692"/>
            </a:avLst>
          </a:prstGeom>
          <a:solidFill>
            <a:srgbClr val="151C49"/>
          </a:solidFill>
          <a:ln/>
        </p:spPr>
      </p:sp>
      <p:sp>
        <p:nvSpPr>
          <p:cNvPr id="19" name="Text 17"/>
          <p:cNvSpPr/>
          <p:nvPr/>
        </p:nvSpPr>
        <p:spPr>
          <a:xfrm>
            <a:off x="6967728" y="1737360"/>
            <a:ext cx="713232" cy="777240"/>
          </a:xfrm>
          <a:prstGeom prst="rect">
            <a:avLst/>
          </a:prstGeom>
          <a:noFill/>
          <a:ln/>
        </p:spPr>
        <p:txBody>
          <a:bodyPr wrap="square" rtlCol="0" anchor="ctr"/>
          <a:lstStyle/>
          <a:p>
            <a:pPr marL="0" indent="0" algn="ctr">
              <a:buNone/>
            </a:pPr>
            <a:r>
              <a:rPr lang="en-US" sz="760" b="1" dirty="0">
                <a:solidFill>
                  <a:srgbClr val="00C2A8"/>
                </a:solidFill>
                <a:latin typeface="Calibri" pitchFamily="34" charset="0"/>
                <a:ea typeface="Calibri" pitchFamily="34" charset="-122"/>
                <a:cs typeface="Calibri" pitchFamily="34" charset="-120"/>
              </a:rPr>
              <a:t>Pred.</a:t>
            </a:r>
            <a:endParaRPr lang="en-US" sz="760" dirty="0"/>
          </a:p>
          <a:p>
            <a:pPr marL="0" indent="0" algn="ctr">
              <a:buNone/>
            </a:pPr>
            <a:r>
              <a:rPr lang="en-US" sz="760" b="1" dirty="0">
                <a:solidFill>
                  <a:srgbClr val="00C2A8"/>
                </a:solidFill>
                <a:latin typeface="Calibri" pitchFamily="34" charset="0"/>
                <a:ea typeface="Calibri" pitchFamily="34" charset="-122"/>
                <a:cs typeface="Calibri" pitchFamily="34" charset="-120"/>
              </a:rPr>
              <a:t>Returns</a:t>
            </a:r>
            <a:endParaRPr lang="en-US" sz="760" dirty="0"/>
          </a:p>
        </p:txBody>
      </p:sp>
      <p:sp>
        <p:nvSpPr>
          <p:cNvPr id="20" name="Text 18"/>
          <p:cNvSpPr/>
          <p:nvPr/>
        </p:nvSpPr>
        <p:spPr>
          <a:xfrm>
            <a:off x="7680960" y="1737360"/>
            <a:ext cx="82296" cy="777240"/>
          </a:xfrm>
          <a:prstGeom prst="rect">
            <a:avLst/>
          </a:prstGeom>
          <a:noFill/>
          <a:ln/>
        </p:spPr>
        <p:txBody>
          <a:bodyPr wrap="square" rtlCol="0" anchor="ctr"/>
          <a:lstStyle/>
          <a:p>
            <a:pPr marL="0" indent="0" algn="ctr">
              <a:buNone/>
            </a:pPr>
            <a:r>
              <a:rPr lang="en-US" sz="1100" dirty="0">
                <a:solidFill>
                  <a:srgbClr val="CADCFC"/>
                </a:solidFill>
              </a:rPr>
              <a:t>→</a:t>
            </a:r>
            <a:endParaRPr lang="en-US" sz="1100" dirty="0"/>
          </a:p>
        </p:txBody>
      </p:sp>
      <p:sp>
        <p:nvSpPr>
          <p:cNvPr id="21" name="Shape 19"/>
          <p:cNvSpPr/>
          <p:nvPr/>
        </p:nvSpPr>
        <p:spPr>
          <a:xfrm>
            <a:off x="7781544" y="1737360"/>
            <a:ext cx="713232" cy="777240"/>
          </a:xfrm>
          <a:prstGeom prst="roundRect">
            <a:avLst>
              <a:gd name="adj" fmla="val 7692"/>
            </a:avLst>
          </a:prstGeom>
          <a:solidFill>
            <a:srgbClr val="151C49"/>
          </a:solidFill>
          <a:ln/>
        </p:spPr>
      </p:sp>
      <p:sp>
        <p:nvSpPr>
          <p:cNvPr id="22" name="Text 20"/>
          <p:cNvSpPr/>
          <p:nvPr/>
        </p:nvSpPr>
        <p:spPr>
          <a:xfrm>
            <a:off x="7781544" y="1737360"/>
            <a:ext cx="713232" cy="777240"/>
          </a:xfrm>
          <a:prstGeom prst="rect">
            <a:avLst/>
          </a:prstGeom>
          <a:noFill/>
          <a:ln/>
        </p:spPr>
        <p:txBody>
          <a:bodyPr wrap="square" rtlCol="0" anchor="ctr"/>
          <a:lstStyle/>
          <a:p>
            <a:pPr marL="0" indent="0" algn="ctr">
              <a:buNone/>
            </a:pPr>
            <a:r>
              <a:rPr lang="en-US" sz="760" b="1" dirty="0">
                <a:solidFill>
                  <a:srgbClr val="00C2A8"/>
                </a:solidFill>
                <a:latin typeface="Calibri" pitchFamily="34" charset="0"/>
                <a:cs typeface="Calibri" pitchFamily="34" charset="-120"/>
              </a:rPr>
              <a:t>Opening</a:t>
            </a:r>
            <a:endParaRPr lang="en-US" sz="760" dirty="0"/>
          </a:p>
          <a:p>
            <a:pPr marL="0" indent="0" algn="ctr">
              <a:buNone/>
            </a:pPr>
            <a:r>
              <a:rPr lang="en-US" sz="760" b="1" dirty="0">
                <a:solidFill>
                  <a:srgbClr val="00C2A8"/>
                </a:solidFill>
                <a:latin typeface="Calibri" pitchFamily="34" charset="0"/>
                <a:ea typeface="Calibri" pitchFamily="34" charset="-122"/>
                <a:cs typeface="Calibri" pitchFamily="34" charset="-120"/>
              </a:rPr>
              <a:t>Prices</a:t>
            </a:r>
            <a:endParaRPr lang="en-US" sz="760" dirty="0"/>
          </a:p>
        </p:txBody>
      </p:sp>
      <p:sp>
        <p:nvSpPr>
          <p:cNvPr id="23" name="Text 21"/>
          <p:cNvSpPr/>
          <p:nvPr/>
        </p:nvSpPr>
        <p:spPr>
          <a:xfrm>
            <a:off x="548640" y="2834640"/>
            <a:ext cx="4572000" cy="27432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Architecture &amp; Parameters</a:t>
            </a:r>
            <a:endParaRPr lang="en-US" sz="13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3145536"/>
          <a:ext cx="2697480" cy="2331720"/>
        </p:xfrm>
        <a:graphic>
          <a:graphicData uri="http://schemas.openxmlformats.org/drawingml/2006/table">
            <a:tbl>
              <a:tblPr/>
              <a:tblGrid>
                <a:gridCol w="146304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tblGrid>
              <a:tr h="466344">
                <a:tc>
                  <a:txBody>
                    <a:bodyPr/>
                    <a:lstStyle/>
                    <a:p>
                      <a:pPr marL="0" indent="0">
                        <a:buNone/>
                      </a:pPr>
                      <a:r>
                        <a:rPr lang="en-US" sz="970" dirty="0">
                          <a:solidFill>
                            <a:srgbClr val="1E2761"/>
                          </a:solidFill>
                          <a:latin typeface="Calibri" pitchFamily="34" charset="0"/>
                          <a:ea typeface="Calibri" pitchFamily="34" charset="-122"/>
                          <a:cs typeface="Calibri" pitchFamily="34" charset="-120"/>
                        </a:rPr>
                        <a:t>Framework</a:t>
                      </a:r>
                      <a:endParaRPr lang="en-US" sz="970" dirty="0">
                        <a:latin typeface="Calibri" charset="0"/>
                        <a:ea typeface="Calibri" charset="0"/>
                        <a:cs typeface="Calibri" charset="0"/>
                      </a:endParaRPr>
                    </a:p>
                  </a:txBody>
                  <a:tcPr marL="63500" marR="63500" marT="25400" marB="254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tc>
                  <a:txBody>
                    <a:bodyPr/>
                    <a:lstStyle/>
                    <a:p>
                      <a:pPr marL="0" indent="0">
                        <a:buNone/>
                      </a:pPr>
                      <a:r>
                        <a:rPr lang="en-US" sz="970" b="1" dirty="0">
                          <a:solidFill>
                            <a:srgbClr val="1E2761"/>
                          </a:solidFill>
                          <a:latin typeface="Calibri" pitchFamily="34" charset="0"/>
                          <a:ea typeface="Calibri" pitchFamily="34" charset="-122"/>
                          <a:cs typeface="Calibri" pitchFamily="34" charset="-120"/>
                        </a:rPr>
                        <a:t>PyTorch (GluonTS)</a:t>
                      </a:r>
                      <a:endParaRPr lang="en-US" sz="970" dirty="0">
                        <a:latin typeface="Calibri" charset="0"/>
                        <a:ea typeface="Calibri" charset="0"/>
                        <a:cs typeface="Calibri" charset="0"/>
                      </a:endParaRPr>
                    </a:p>
                  </a:txBody>
                  <a:tcPr marL="63500" marR="63500" marT="25400" marB="254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extLst>
                  <a:ext uri="{0D108BD9-81ED-4DB2-BD59-A6C34878D82A}">
                    <a16:rowId xmlns:a16="http://schemas.microsoft.com/office/drawing/2014/main" val="10000"/>
                  </a:ext>
                </a:extLst>
              </a:tr>
              <a:tr h="466344">
                <a:tc>
                  <a:txBody>
                    <a:bodyPr/>
                    <a:lstStyle/>
                    <a:p>
                      <a:pPr marL="0" indent="0">
                        <a:buNone/>
                      </a:pPr>
                      <a:r>
                        <a:rPr lang="en-US" sz="970" dirty="0">
                          <a:solidFill>
                            <a:srgbClr val="1E2761"/>
                          </a:solidFill>
                          <a:latin typeface="Calibri" pitchFamily="34" charset="0"/>
                          <a:ea typeface="Calibri" pitchFamily="34" charset="-122"/>
                          <a:cs typeface="Calibri" pitchFamily="34" charset="-120"/>
                        </a:rPr>
                        <a:t>Context Length</a:t>
                      </a:r>
                      <a:endParaRPr lang="en-US" sz="970" dirty="0">
                        <a:latin typeface="Calibri" charset="0"/>
                        <a:ea typeface="Calibri" charset="0"/>
                        <a:cs typeface="Calibri" charset="0"/>
                      </a:endParaRPr>
                    </a:p>
                  </a:txBody>
                  <a:tcPr marL="63500" marR="63500" marT="25400" marB="254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tc>
                  <a:txBody>
                    <a:bodyPr/>
                    <a:lstStyle/>
                    <a:p>
                      <a:pPr marL="0" indent="0">
                        <a:buNone/>
                      </a:pPr>
                      <a:r>
                        <a:rPr lang="en-US" sz="970" b="1" dirty="0">
                          <a:solidFill>
                            <a:srgbClr val="1E2761"/>
                          </a:solidFill>
                          <a:latin typeface="Calibri" pitchFamily="34" charset="0"/>
                          <a:ea typeface="Calibri" pitchFamily="34" charset="-122"/>
                          <a:cs typeface="Calibri" pitchFamily="34" charset="-120"/>
                        </a:rPr>
                        <a:t>120</a:t>
                      </a:r>
                      <a:endParaRPr lang="en-US" sz="970" dirty="0">
                        <a:latin typeface="Calibri" charset="0"/>
                        <a:ea typeface="Calibri" charset="0"/>
                        <a:cs typeface="Calibri" charset="0"/>
                      </a:endParaRPr>
                    </a:p>
                  </a:txBody>
                  <a:tcPr marL="63500" marR="63500" marT="25400" marB="254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extLst>
                  <a:ext uri="{0D108BD9-81ED-4DB2-BD59-A6C34878D82A}">
                    <a16:rowId xmlns:a16="http://schemas.microsoft.com/office/drawing/2014/main" val="10001"/>
                  </a:ext>
                </a:extLst>
              </a:tr>
              <a:tr h="466344">
                <a:tc>
                  <a:txBody>
                    <a:bodyPr/>
                    <a:lstStyle/>
                    <a:p>
                      <a:pPr marL="0" indent="0">
                        <a:buNone/>
                      </a:pPr>
                      <a:r>
                        <a:rPr lang="en-US" sz="970" dirty="0">
                          <a:solidFill>
                            <a:srgbClr val="1E2761"/>
                          </a:solidFill>
                          <a:latin typeface="Calibri" pitchFamily="34" charset="0"/>
                          <a:ea typeface="Calibri" pitchFamily="34" charset="-122"/>
                          <a:cs typeface="Calibri" pitchFamily="34" charset="-120"/>
                        </a:rPr>
                        <a:t>Prediction Length</a:t>
                      </a:r>
                      <a:endParaRPr lang="en-US" sz="970" dirty="0">
                        <a:latin typeface="Calibri" charset="0"/>
                        <a:ea typeface="Calibri" charset="0"/>
                        <a:cs typeface="Calibri" charset="0"/>
                      </a:endParaRPr>
                    </a:p>
                  </a:txBody>
                  <a:tcPr marL="63500" marR="63500" marT="25400" marB="254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tc>
                  <a:txBody>
                    <a:bodyPr/>
                    <a:lstStyle/>
                    <a:p>
                      <a:pPr marL="0" indent="0">
                        <a:buNone/>
                      </a:pPr>
                      <a:r>
                        <a:rPr lang="en-US" sz="970" b="1" dirty="0">
                          <a:solidFill>
                            <a:srgbClr val="1E2761"/>
                          </a:solidFill>
                          <a:latin typeface="Calibri" pitchFamily="34" charset="0"/>
                          <a:ea typeface="Calibri" pitchFamily="34" charset="-122"/>
                          <a:cs typeface="Calibri" pitchFamily="34" charset="-120"/>
                        </a:rPr>
                        <a:t>7</a:t>
                      </a:r>
                      <a:endParaRPr lang="en-US" sz="970" dirty="0">
                        <a:latin typeface="Calibri" charset="0"/>
                        <a:ea typeface="Calibri" charset="0"/>
                        <a:cs typeface="Calibri" charset="0"/>
                      </a:endParaRPr>
                    </a:p>
                  </a:txBody>
                  <a:tcPr marL="63500" marR="63500" marT="25400" marB="254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extLst>
                  <a:ext uri="{0D108BD9-81ED-4DB2-BD59-A6C34878D82A}">
                    <a16:rowId xmlns:a16="http://schemas.microsoft.com/office/drawing/2014/main" val="10002"/>
                  </a:ext>
                </a:extLst>
              </a:tr>
              <a:tr h="466344">
                <a:tc>
                  <a:txBody>
                    <a:bodyPr/>
                    <a:lstStyle/>
                    <a:p>
                      <a:pPr marL="0" indent="0">
                        <a:buNone/>
                      </a:pPr>
                      <a:r>
                        <a:rPr lang="en-US" sz="970" dirty="0">
                          <a:solidFill>
                            <a:srgbClr val="1E2761"/>
                          </a:solidFill>
                          <a:latin typeface="Calibri" pitchFamily="34" charset="0"/>
                          <a:ea typeface="Calibri" pitchFamily="34" charset="-122"/>
                          <a:cs typeface="Calibri" pitchFamily="34" charset="-120"/>
                        </a:rPr>
                        <a:t>Hidden Size</a:t>
                      </a:r>
                      <a:endParaRPr lang="en-US" sz="970" dirty="0">
                        <a:latin typeface="Calibri" charset="0"/>
                        <a:ea typeface="Calibri" charset="0"/>
                        <a:cs typeface="Calibri" charset="0"/>
                      </a:endParaRPr>
                    </a:p>
                  </a:txBody>
                  <a:tcPr marL="63500" marR="63500" marT="25400" marB="254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tc>
                  <a:txBody>
                    <a:bodyPr/>
                    <a:lstStyle/>
                    <a:p>
                      <a:pPr marL="0" indent="0">
                        <a:buNone/>
                      </a:pPr>
                      <a:r>
                        <a:rPr lang="en-US" sz="970" b="1" dirty="0">
                          <a:solidFill>
                            <a:srgbClr val="1E2761"/>
                          </a:solidFill>
                          <a:latin typeface="Calibri" pitchFamily="34" charset="0"/>
                          <a:ea typeface="Calibri" pitchFamily="34" charset="-122"/>
                          <a:cs typeface="Calibri" pitchFamily="34" charset="-120"/>
                        </a:rPr>
                        <a:t>50</a:t>
                      </a:r>
                      <a:endParaRPr lang="en-US" sz="970" dirty="0">
                        <a:latin typeface="Calibri" charset="0"/>
                        <a:ea typeface="Calibri" charset="0"/>
                        <a:cs typeface="Calibri" charset="0"/>
                      </a:endParaRPr>
                    </a:p>
                  </a:txBody>
                  <a:tcPr marL="63500" marR="63500" marT="25400" marB="254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extLst>
                  <a:ext uri="{0D108BD9-81ED-4DB2-BD59-A6C34878D82A}">
                    <a16:rowId xmlns:a16="http://schemas.microsoft.com/office/drawing/2014/main" val="10003"/>
                  </a:ext>
                </a:extLst>
              </a:tr>
              <a:tr h="466344">
                <a:tc>
                  <a:txBody>
                    <a:bodyPr/>
                    <a:lstStyle/>
                    <a:p>
                      <a:pPr marL="0" indent="0">
                        <a:buNone/>
                      </a:pPr>
                      <a:r>
                        <a:rPr lang="en-US" sz="970" dirty="0">
                          <a:solidFill>
                            <a:srgbClr val="1E2761"/>
                          </a:solidFill>
                          <a:latin typeface="Calibri" pitchFamily="34" charset="0"/>
                          <a:ea typeface="Calibri" pitchFamily="34" charset="-122"/>
                          <a:cs typeface="Calibri" pitchFamily="34" charset="-120"/>
                        </a:rPr>
                        <a:t>Recurrent Layers</a:t>
                      </a:r>
                      <a:endParaRPr lang="en-US" sz="970" dirty="0">
                        <a:latin typeface="Calibri" charset="0"/>
                        <a:ea typeface="Calibri" charset="0"/>
                        <a:cs typeface="Calibri" charset="0"/>
                      </a:endParaRPr>
                    </a:p>
                  </a:txBody>
                  <a:tcPr marL="63500" marR="63500" marT="25400" marB="254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tc>
                  <a:txBody>
                    <a:bodyPr/>
                    <a:lstStyle/>
                    <a:p>
                      <a:pPr marL="0" indent="0">
                        <a:buNone/>
                      </a:pPr>
                      <a:r>
                        <a:rPr lang="en-US" sz="970" b="1" dirty="0">
                          <a:solidFill>
                            <a:srgbClr val="1E2761"/>
                          </a:solidFill>
                          <a:latin typeface="Calibri" pitchFamily="34" charset="0"/>
                          <a:ea typeface="Calibri" pitchFamily="34" charset="-122"/>
                          <a:cs typeface="Calibri" pitchFamily="34" charset="-120"/>
                        </a:rPr>
                        <a:t>2</a:t>
                      </a:r>
                      <a:endParaRPr lang="en-US" sz="970" dirty="0">
                        <a:latin typeface="Calibri" charset="0"/>
                        <a:ea typeface="Calibri" charset="0"/>
                        <a:cs typeface="Calibri" charset="0"/>
                      </a:endParaRPr>
                    </a:p>
                  </a:txBody>
                  <a:tcPr marL="63500" marR="63500" marT="25400" marB="254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extLst>
                  <a:ext uri="{0D108BD9-81ED-4DB2-BD59-A6C34878D82A}">
                    <a16:rowId xmlns:a16="http://schemas.microsoft.com/office/drawing/2014/main" val="10004"/>
                  </a:ext>
                </a:extLst>
              </a:tr>
            </a:tbl>
          </a:graphicData>
        </a:graphic>
      </p:graphicFrame>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3337560" y="3145536"/>
          <a:ext cx="2697480" cy="2331720"/>
        </p:xfrm>
        <a:graphic>
          <a:graphicData uri="http://schemas.openxmlformats.org/drawingml/2006/table">
            <a:tbl>
              <a:tblPr/>
              <a:tblGrid>
                <a:gridCol w="146304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tblGrid>
              <a:tr h="466344">
                <a:tc>
                  <a:txBody>
                    <a:bodyPr/>
                    <a:lstStyle/>
                    <a:p>
                      <a:pPr marL="0" indent="0">
                        <a:buNone/>
                      </a:pPr>
                      <a:r>
                        <a:rPr lang="en-US" sz="970" dirty="0">
                          <a:solidFill>
                            <a:srgbClr val="1E2761"/>
                          </a:solidFill>
                          <a:latin typeface="Calibri" pitchFamily="34" charset="0"/>
                          <a:ea typeface="Calibri" pitchFamily="34" charset="-122"/>
                          <a:cs typeface="Calibri" pitchFamily="34" charset="-120"/>
                        </a:rPr>
                        <a:t>Batch Size</a:t>
                      </a:r>
                      <a:endParaRPr lang="en-US" sz="970" dirty="0">
                        <a:latin typeface="Calibri" charset="0"/>
                        <a:ea typeface="Calibri" charset="0"/>
                        <a:cs typeface="Calibri" charset="0"/>
                      </a:endParaRPr>
                    </a:p>
                  </a:txBody>
                  <a:tcPr marL="63500" marR="63500" marT="25400" marB="254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tc>
                  <a:txBody>
                    <a:bodyPr/>
                    <a:lstStyle/>
                    <a:p>
                      <a:pPr marL="0" indent="0">
                        <a:buNone/>
                      </a:pPr>
                      <a:r>
                        <a:rPr lang="en-US" sz="970" b="1" dirty="0">
                          <a:solidFill>
                            <a:srgbClr val="1E2761"/>
                          </a:solidFill>
                          <a:latin typeface="Calibri" pitchFamily="34" charset="0"/>
                          <a:ea typeface="Calibri" pitchFamily="34" charset="-122"/>
                          <a:cs typeface="Calibri" pitchFamily="34" charset="-120"/>
                        </a:rPr>
                        <a:t>32</a:t>
                      </a:r>
                      <a:endParaRPr lang="en-US" sz="970" dirty="0">
                        <a:latin typeface="Calibri" charset="0"/>
                        <a:ea typeface="Calibri" charset="0"/>
                        <a:cs typeface="Calibri" charset="0"/>
                      </a:endParaRPr>
                    </a:p>
                  </a:txBody>
                  <a:tcPr marL="63500" marR="63500" marT="25400" marB="254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extLst>
                  <a:ext uri="{0D108BD9-81ED-4DB2-BD59-A6C34878D82A}">
                    <a16:rowId xmlns:a16="http://schemas.microsoft.com/office/drawing/2014/main" val="10000"/>
                  </a:ext>
                </a:extLst>
              </a:tr>
              <a:tr h="466344">
                <a:tc>
                  <a:txBody>
                    <a:bodyPr/>
                    <a:lstStyle/>
                    <a:p>
                      <a:pPr marL="0" indent="0">
                        <a:buNone/>
                      </a:pPr>
                      <a:r>
                        <a:rPr lang="en-US" sz="970" dirty="0">
                          <a:solidFill>
                            <a:srgbClr val="1E2761"/>
                          </a:solidFill>
                          <a:latin typeface="Calibri" pitchFamily="34" charset="0"/>
                          <a:ea typeface="Calibri" pitchFamily="34" charset="-122"/>
                          <a:cs typeface="Calibri" pitchFamily="34" charset="-120"/>
                        </a:rPr>
                        <a:t>Learning Rate</a:t>
                      </a:r>
                      <a:endParaRPr lang="en-US" sz="970" dirty="0">
                        <a:latin typeface="Calibri" charset="0"/>
                        <a:ea typeface="Calibri" charset="0"/>
                        <a:cs typeface="Calibri" charset="0"/>
                      </a:endParaRPr>
                    </a:p>
                  </a:txBody>
                  <a:tcPr marL="63500" marR="63500" marT="25400" marB="254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tc>
                  <a:txBody>
                    <a:bodyPr/>
                    <a:lstStyle/>
                    <a:p>
                      <a:pPr marL="0" indent="0">
                        <a:buNone/>
                      </a:pPr>
                      <a:r>
                        <a:rPr lang="en-US" sz="970" b="1" dirty="0">
                          <a:solidFill>
                            <a:srgbClr val="1E2761"/>
                          </a:solidFill>
                          <a:latin typeface="Calibri" pitchFamily="34" charset="0"/>
                          <a:ea typeface="Calibri" pitchFamily="34" charset="-122"/>
                          <a:cs typeface="Calibri" pitchFamily="34" charset="-120"/>
                        </a:rPr>
                        <a:t>0.001</a:t>
                      </a:r>
                      <a:endParaRPr lang="en-US" sz="970" dirty="0">
                        <a:latin typeface="Calibri" charset="0"/>
                        <a:ea typeface="Calibri" charset="0"/>
                        <a:cs typeface="Calibri" charset="0"/>
                      </a:endParaRPr>
                    </a:p>
                  </a:txBody>
                  <a:tcPr marL="63500" marR="63500" marT="25400" marB="254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extLst>
                  <a:ext uri="{0D108BD9-81ED-4DB2-BD59-A6C34878D82A}">
                    <a16:rowId xmlns:a16="http://schemas.microsoft.com/office/drawing/2014/main" val="10001"/>
                  </a:ext>
                </a:extLst>
              </a:tr>
              <a:tr h="466344">
                <a:tc>
                  <a:txBody>
                    <a:bodyPr/>
                    <a:lstStyle/>
                    <a:p>
                      <a:pPr marL="0" indent="0">
                        <a:buNone/>
                      </a:pPr>
                      <a:r>
                        <a:rPr lang="en-US" sz="970" dirty="0">
                          <a:solidFill>
                            <a:srgbClr val="1E2761"/>
                          </a:solidFill>
                          <a:latin typeface="Calibri" pitchFamily="34" charset="0"/>
                          <a:ea typeface="Calibri" pitchFamily="34" charset="-122"/>
                          <a:cs typeface="Calibri" pitchFamily="34" charset="-120"/>
                        </a:rPr>
                        <a:t>Dropout</a:t>
                      </a:r>
                      <a:endParaRPr lang="en-US" sz="970" dirty="0">
                        <a:latin typeface="Calibri" charset="0"/>
                        <a:ea typeface="Calibri" charset="0"/>
                        <a:cs typeface="Calibri" charset="0"/>
                      </a:endParaRPr>
                    </a:p>
                  </a:txBody>
                  <a:tcPr marL="63500" marR="63500" marT="25400" marB="254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tc>
                  <a:txBody>
                    <a:bodyPr/>
                    <a:lstStyle/>
                    <a:p>
                      <a:pPr marL="0" indent="0">
                        <a:buNone/>
                      </a:pPr>
                      <a:r>
                        <a:rPr lang="en-US" sz="970" b="1" dirty="0">
                          <a:solidFill>
                            <a:srgbClr val="1E2761"/>
                          </a:solidFill>
                          <a:latin typeface="Calibri" pitchFamily="34" charset="0"/>
                          <a:ea typeface="Calibri" pitchFamily="34" charset="-122"/>
                          <a:cs typeface="Calibri" pitchFamily="34" charset="-120"/>
                        </a:rPr>
                        <a:t>0.20</a:t>
                      </a:r>
                      <a:endParaRPr lang="en-US" sz="970" dirty="0">
                        <a:latin typeface="Calibri" charset="0"/>
                        <a:ea typeface="Calibri" charset="0"/>
                        <a:cs typeface="Calibri" charset="0"/>
                      </a:endParaRPr>
                    </a:p>
                  </a:txBody>
                  <a:tcPr marL="63500" marR="63500" marT="25400" marB="254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extLst>
                  <a:ext uri="{0D108BD9-81ED-4DB2-BD59-A6C34878D82A}">
                    <a16:rowId xmlns:a16="http://schemas.microsoft.com/office/drawing/2014/main" val="10002"/>
                  </a:ext>
                </a:extLst>
              </a:tr>
              <a:tr h="466344">
                <a:tc>
                  <a:txBody>
                    <a:bodyPr/>
                    <a:lstStyle/>
                    <a:p>
                      <a:pPr marL="0" indent="0">
                        <a:buNone/>
                      </a:pPr>
                      <a:r>
                        <a:rPr lang="en-US" sz="970" dirty="0">
                          <a:solidFill>
                            <a:srgbClr val="1E2761"/>
                          </a:solidFill>
                          <a:latin typeface="Calibri" pitchFamily="34" charset="0"/>
                          <a:ea typeface="Calibri" pitchFamily="34" charset="-122"/>
                          <a:cs typeface="Calibri" pitchFamily="34" charset="-120"/>
                        </a:rPr>
                        <a:t>Distribution</a:t>
                      </a:r>
                      <a:endParaRPr lang="en-US" sz="970" dirty="0">
                        <a:latin typeface="Calibri" charset="0"/>
                        <a:ea typeface="Calibri" charset="0"/>
                        <a:cs typeface="Calibri" charset="0"/>
                      </a:endParaRPr>
                    </a:p>
                  </a:txBody>
                  <a:tcPr marL="63500" marR="63500" marT="25400" marB="254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tc>
                  <a:txBody>
                    <a:bodyPr/>
                    <a:lstStyle/>
                    <a:p>
                      <a:pPr marL="0" indent="0">
                        <a:buNone/>
                      </a:pPr>
                      <a:r>
                        <a:rPr lang="en-US" sz="970" b="1" dirty="0">
                          <a:solidFill>
                            <a:srgbClr val="1E2761"/>
                          </a:solidFill>
                          <a:latin typeface="Calibri" pitchFamily="34" charset="0"/>
                          <a:ea typeface="Calibri" pitchFamily="34" charset="-122"/>
                          <a:cs typeface="Calibri" pitchFamily="34" charset="-120"/>
                        </a:rPr>
                        <a:t>Student-T</a:t>
                      </a:r>
                      <a:endParaRPr lang="en-US" sz="970" dirty="0">
                        <a:latin typeface="Calibri" charset="0"/>
                        <a:ea typeface="Calibri" charset="0"/>
                        <a:cs typeface="Calibri" charset="0"/>
                      </a:endParaRPr>
                    </a:p>
                  </a:txBody>
                  <a:tcPr marL="63500" marR="63500" marT="25400" marB="254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extLst>
                  <a:ext uri="{0D108BD9-81ED-4DB2-BD59-A6C34878D82A}">
                    <a16:rowId xmlns:a16="http://schemas.microsoft.com/office/drawing/2014/main" val="10003"/>
                  </a:ext>
                </a:extLst>
              </a:tr>
              <a:tr h="466344">
                <a:tc>
                  <a:txBody>
                    <a:bodyPr/>
                    <a:lstStyle/>
                    <a:p>
                      <a:pPr marL="0" indent="0">
                        <a:buNone/>
                      </a:pPr>
                      <a:r>
                        <a:rPr lang="en-US" sz="970" dirty="0">
                          <a:solidFill>
                            <a:srgbClr val="1E2761"/>
                          </a:solidFill>
                          <a:latin typeface="Calibri" pitchFamily="34" charset="0"/>
                          <a:ea typeface="Calibri" pitchFamily="34" charset="-122"/>
                          <a:cs typeface="Calibri" pitchFamily="34" charset="-120"/>
                        </a:rPr>
                        <a:t>Epochs</a:t>
                      </a:r>
                      <a:endParaRPr lang="en-US" sz="970" dirty="0">
                        <a:latin typeface="Calibri" charset="0"/>
                        <a:ea typeface="Calibri" charset="0"/>
                        <a:cs typeface="Calibri" charset="0"/>
                      </a:endParaRPr>
                    </a:p>
                  </a:txBody>
                  <a:tcPr marL="63500" marR="63500" marT="25400" marB="254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tc>
                  <a:txBody>
                    <a:bodyPr/>
                    <a:lstStyle/>
                    <a:p>
                      <a:pPr marL="0" indent="0">
                        <a:buNone/>
                      </a:pPr>
                      <a:r>
                        <a:rPr lang="en-US" sz="970" b="1" dirty="0">
                          <a:solidFill>
                            <a:srgbClr val="1E2761"/>
                          </a:solidFill>
                          <a:latin typeface="Calibri" pitchFamily="34" charset="0"/>
                          <a:ea typeface="Calibri" pitchFamily="34" charset="-122"/>
                          <a:cs typeface="Calibri" pitchFamily="34" charset="-120"/>
                        </a:rPr>
                        <a:t>100</a:t>
                      </a:r>
                      <a:endParaRPr lang="en-US" sz="970" dirty="0">
                        <a:latin typeface="Calibri" charset="0"/>
                        <a:ea typeface="Calibri" charset="0"/>
                        <a:cs typeface="Calibri" charset="0"/>
                      </a:endParaRPr>
                    </a:p>
                  </a:txBody>
                  <a:tcPr marL="63500" marR="63500" marT="25400" marB="254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extLst>
                  <a:ext uri="{0D108BD9-81ED-4DB2-BD59-A6C34878D82A}">
                    <a16:rowId xmlns:a16="http://schemas.microsoft.com/office/drawing/2014/main" val="10004"/>
                  </a:ext>
                </a:extLst>
              </a:tr>
            </a:tbl>
          </a:graphicData>
        </a:graphic>
      </p:graphicFrame>
      <p:sp>
        <p:nvSpPr>
          <p:cNvPr id="26" name="Text 22"/>
          <p:cNvSpPr/>
          <p:nvPr/>
        </p:nvSpPr>
        <p:spPr>
          <a:xfrm>
            <a:off x="548640" y="5623560"/>
            <a:ext cx="5486400" cy="256032"/>
          </a:xfrm>
          <a:prstGeom prst="rect">
            <a:avLst/>
          </a:prstGeom>
          <a:noFill/>
          <a:ln/>
        </p:spPr>
        <p:txBody>
          <a:bodyPr wrap="square" rtlCol="0" anchor="ctr"/>
          <a:lstStyle/>
          <a:p>
            <a:pPr marL="0" indent="0">
              <a:buNone/>
            </a:pPr>
            <a:r>
              <a:rPr lang="en-US" sz="1100" b="1" dirty="0">
                <a:solidFill>
                  <a:srgbClr val="1E2761"/>
                </a:solidFill>
                <a:latin typeface="Cambria" pitchFamily="34" charset="0"/>
                <a:ea typeface="Cambria" pitchFamily="34" charset="-122"/>
                <a:cs typeface="Cambria" pitchFamily="34" charset="-120"/>
              </a:rPr>
              <a:t>Performance (Log-Return Scale)</a:t>
            </a:r>
            <a:endParaRPr lang="en-US" sz="1100" dirty="0"/>
          </a:p>
        </p:txBody>
      </p:sp>
      <p:sp>
        <p:nvSpPr>
          <p:cNvPr id="27" name="Shape 23"/>
          <p:cNvSpPr/>
          <p:nvPr/>
        </p:nvSpPr>
        <p:spPr>
          <a:xfrm>
            <a:off x="548640" y="5907024"/>
            <a:ext cx="1417320" cy="566928"/>
          </a:xfrm>
          <a:prstGeom prst="roundRect">
            <a:avLst>
              <a:gd name="adj" fmla="val 8065"/>
            </a:avLst>
          </a:prstGeom>
          <a:solidFill>
            <a:srgbClr val="1E2761"/>
          </a:solidFill>
          <a:ln/>
        </p:spPr>
      </p:sp>
      <p:sp>
        <p:nvSpPr>
          <p:cNvPr id="28" name="Text 24"/>
          <p:cNvSpPr/>
          <p:nvPr/>
        </p:nvSpPr>
        <p:spPr>
          <a:xfrm>
            <a:off x="548640" y="5907024"/>
            <a:ext cx="1417320" cy="566928"/>
          </a:xfrm>
          <a:prstGeom prst="rect">
            <a:avLst/>
          </a:prstGeom>
          <a:noFill/>
          <a:ln/>
        </p:spPr>
        <p:txBody>
          <a:bodyPr wrap="square" rtlCol="0" anchor="ctr"/>
          <a:lstStyle/>
          <a:p>
            <a:pPr marL="0" indent="0" algn="ctr">
              <a:buNone/>
            </a:pPr>
            <a:r>
              <a:rPr lang="en-US" sz="1300" b="1" dirty="0">
                <a:solidFill>
                  <a:srgbClr val="00C2A8"/>
                </a:solidFill>
                <a:latin typeface="Calibri" pitchFamily="34" charset="0"/>
                <a:ea typeface="Calibri" pitchFamily="34" charset="-122"/>
                <a:cs typeface="Calibri" pitchFamily="34" charset="-120"/>
              </a:rPr>
              <a:t>0.0225  </a:t>
            </a:r>
            <a:r>
              <a:rPr lang="en-US" sz="900" dirty="0">
                <a:solidFill>
                  <a:srgbClr val="CADCFC"/>
                </a:solidFill>
                <a:latin typeface="Calibri" pitchFamily="34" charset="0"/>
                <a:ea typeface="Calibri" pitchFamily="34" charset="-122"/>
                <a:cs typeface="Calibri" pitchFamily="34" charset="-120"/>
              </a:rPr>
              <a:t>RMSE</a:t>
            </a:r>
            <a:endParaRPr lang="en-US" sz="1300" dirty="0"/>
          </a:p>
        </p:txBody>
      </p:sp>
      <p:sp>
        <p:nvSpPr>
          <p:cNvPr id="29" name="Shape 25"/>
          <p:cNvSpPr/>
          <p:nvPr/>
        </p:nvSpPr>
        <p:spPr>
          <a:xfrm>
            <a:off x="2084832" y="5907024"/>
            <a:ext cx="1417320" cy="566928"/>
          </a:xfrm>
          <a:prstGeom prst="roundRect">
            <a:avLst>
              <a:gd name="adj" fmla="val 8065"/>
            </a:avLst>
          </a:prstGeom>
          <a:solidFill>
            <a:srgbClr val="1E2761"/>
          </a:solidFill>
          <a:ln/>
        </p:spPr>
      </p:sp>
      <p:sp>
        <p:nvSpPr>
          <p:cNvPr id="30" name="Text 26"/>
          <p:cNvSpPr/>
          <p:nvPr/>
        </p:nvSpPr>
        <p:spPr>
          <a:xfrm>
            <a:off x="2084832" y="5907024"/>
            <a:ext cx="1417320" cy="566928"/>
          </a:xfrm>
          <a:prstGeom prst="rect">
            <a:avLst/>
          </a:prstGeom>
          <a:noFill/>
          <a:ln/>
        </p:spPr>
        <p:txBody>
          <a:bodyPr wrap="square" rtlCol="0" anchor="ctr"/>
          <a:lstStyle/>
          <a:p>
            <a:pPr marL="0" indent="0" algn="ctr">
              <a:buNone/>
            </a:pPr>
            <a:r>
              <a:rPr lang="en-US" sz="1300" b="1" dirty="0">
                <a:solidFill>
                  <a:srgbClr val="00C2A8"/>
                </a:solidFill>
                <a:latin typeface="Calibri" pitchFamily="34" charset="0"/>
                <a:ea typeface="Calibri" pitchFamily="34" charset="-122"/>
                <a:cs typeface="Calibri" pitchFamily="34" charset="-120"/>
              </a:rPr>
              <a:t>0.0156  </a:t>
            </a:r>
            <a:r>
              <a:rPr lang="en-US" sz="900" dirty="0">
                <a:solidFill>
                  <a:srgbClr val="CADCFC"/>
                </a:solidFill>
                <a:latin typeface="Calibri" pitchFamily="34" charset="0"/>
                <a:ea typeface="Calibri" pitchFamily="34" charset="-122"/>
                <a:cs typeface="Calibri" pitchFamily="34" charset="-120"/>
              </a:rPr>
              <a:t>MAE</a:t>
            </a:r>
            <a:endParaRPr lang="en-US" sz="1300" dirty="0"/>
          </a:p>
        </p:txBody>
      </p:sp>
      <p:sp>
        <p:nvSpPr>
          <p:cNvPr id="31" name="Shape 27"/>
          <p:cNvSpPr/>
          <p:nvPr/>
        </p:nvSpPr>
        <p:spPr>
          <a:xfrm>
            <a:off x="3621024" y="5907024"/>
            <a:ext cx="1417320" cy="566928"/>
          </a:xfrm>
          <a:prstGeom prst="roundRect">
            <a:avLst>
              <a:gd name="adj" fmla="val 8065"/>
            </a:avLst>
          </a:prstGeom>
          <a:solidFill>
            <a:srgbClr val="1E2761"/>
          </a:solidFill>
          <a:ln/>
        </p:spPr>
      </p:sp>
      <p:sp>
        <p:nvSpPr>
          <p:cNvPr id="32" name="Text 28"/>
          <p:cNvSpPr/>
          <p:nvPr/>
        </p:nvSpPr>
        <p:spPr>
          <a:xfrm>
            <a:off x="3621024" y="5907024"/>
            <a:ext cx="1417320" cy="566928"/>
          </a:xfrm>
          <a:prstGeom prst="rect">
            <a:avLst/>
          </a:prstGeom>
          <a:noFill/>
          <a:ln/>
        </p:spPr>
        <p:txBody>
          <a:bodyPr wrap="square" rtlCol="0" anchor="ctr"/>
          <a:lstStyle/>
          <a:p>
            <a:pPr marL="0" indent="0" algn="ctr">
              <a:buNone/>
            </a:pPr>
            <a:r>
              <a:rPr lang="en-US" sz="1300" b="1" dirty="0">
                <a:solidFill>
                  <a:srgbClr val="00C2A8"/>
                </a:solidFill>
                <a:latin typeface="Calibri" pitchFamily="34" charset="0"/>
                <a:ea typeface="Calibri" pitchFamily="34" charset="-122"/>
                <a:cs typeface="Calibri" pitchFamily="34" charset="-120"/>
              </a:rPr>
              <a:t>1.98%  </a:t>
            </a:r>
            <a:r>
              <a:rPr lang="en-US" sz="900" dirty="0">
                <a:solidFill>
                  <a:srgbClr val="CADCFC"/>
                </a:solidFill>
                <a:latin typeface="Calibri" pitchFamily="34" charset="0"/>
                <a:ea typeface="Calibri" pitchFamily="34" charset="-122"/>
                <a:cs typeface="Calibri" pitchFamily="34" charset="-120"/>
              </a:rPr>
              <a:t>MAPE</a:t>
            </a:r>
            <a:endParaRPr lang="en-US" sz="1300" dirty="0"/>
          </a:p>
        </p:txBody>
      </p:sp>
      <p:sp>
        <p:nvSpPr>
          <p:cNvPr id="33" name="Shape 29"/>
          <p:cNvSpPr/>
          <p:nvPr/>
        </p:nvSpPr>
        <p:spPr>
          <a:xfrm>
            <a:off x="5157216" y="5907024"/>
            <a:ext cx="1417320" cy="566928"/>
          </a:xfrm>
          <a:prstGeom prst="roundRect">
            <a:avLst>
              <a:gd name="adj" fmla="val 8065"/>
            </a:avLst>
          </a:prstGeom>
          <a:solidFill>
            <a:srgbClr val="1E2761"/>
          </a:solidFill>
          <a:ln/>
        </p:spPr>
      </p:sp>
      <p:sp>
        <p:nvSpPr>
          <p:cNvPr id="34" name="Text 30"/>
          <p:cNvSpPr/>
          <p:nvPr/>
        </p:nvSpPr>
        <p:spPr>
          <a:xfrm>
            <a:off x="5157216" y="5907024"/>
            <a:ext cx="1417320" cy="566928"/>
          </a:xfrm>
          <a:prstGeom prst="rect">
            <a:avLst/>
          </a:prstGeom>
          <a:noFill/>
          <a:ln/>
        </p:spPr>
        <p:txBody>
          <a:bodyPr wrap="square" rtlCol="0" anchor="ctr"/>
          <a:lstStyle/>
          <a:p>
            <a:pPr marL="0" indent="0" algn="ctr">
              <a:buNone/>
            </a:pPr>
            <a:r>
              <a:rPr lang="en-US" sz="1300" b="1" dirty="0">
                <a:solidFill>
                  <a:srgbClr val="00C2A8"/>
                </a:solidFill>
                <a:latin typeface="Calibri" pitchFamily="34" charset="0"/>
                <a:ea typeface="Calibri" pitchFamily="34" charset="-122"/>
                <a:cs typeface="Calibri" pitchFamily="34" charset="-120"/>
              </a:rPr>
              <a:t>-0.568  </a:t>
            </a:r>
            <a:r>
              <a:rPr lang="en-US" sz="900" dirty="0">
                <a:solidFill>
                  <a:srgbClr val="CADCFC"/>
                </a:solidFill>
                <a:latin typeface="Calibri" pitchFamily="34" charset="0"/>
                <a:ea typeface="Calibri" pitchFamily="34" charset="-122"/>
                <a:cs typeface="Calibri" pitchFamily="34" charset="-120"/>
              </a:rPr>
              <a:t>R²</a:t>
            </a:r>
            <a:endParaRPr lang="en-US" sz="1300" dirty="0"/>
          </a:p>
        </p:txBody>
      </p:sp>
      <p:sp>
        <p:nvSpPr>
          <p:cNvPr id="35" name="Shape 31"/>
          <p:cNvSpPr/>
          <p:nvPr/>
        </p:nvSpPr>
        <p:spPr>
          <a:xfrm>
            <a:off x="6355080" y="2834640"/>
            <a:ext cx="2697480" cy="2651760"/>
          </a:xfrm>
          <a:prstGeom prst="roundRect">
            <a:avLst>
              <a:gd name="adj" fmla="val 2759"/>
            </a:avLst>
          </a:prstGeom>
          <a:solidFill>
            <a:srgbClr val="FFFFFF"/>
          </a:solidFill>
          <a:ln w="12700">
            <a:solidFill>
              <a:srgbClr val="E3E8F5"/>
            </a:solidFill>
            <a:prstDash val="solid"/>
          </a:ln>
        </p:spPr>
      </p:sp>
      <p:sp>
        <p:nvSpPr>
          <p:cNvPr id="36" name="Text 32"/>
          <p:cNvSpPr/>
          <p:nvPr/>
        </p:nvSpPr>
        <p:spPr>
          <a:xfrm>
            <a:off x="6492240" y="2926080"/>
            <a:ext cx="2423160" cy="228600"/>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Predicted Log Returns</a:t>
            </a:r>
            <a:endParaRPr lang="en-US" sz="950" dirty="0"/>
          </a:p>
        </p:txBody>
      </p:sp>
      <p:pic>
        <p:nvPicPr>
          <p:cNvPr id="37" name="Image 0" descr="/home/claude/ppt/imgs/Screenshot_2026-06-28_085042.png"/>
          <p:cNvPicPr>
            <a:picLocks noChangeAspect="1"/>
          </p:cNvPicPr>
          <p:nvPr/>
        </p:nvPicPr>
        <p:blipFill>
          <a:blip r:embed="rId3"/>
          <a:stretch>
            <a:fillRect/>
          </a:stretch>
        </p:blipFill>
        <p:spPr>
          <a:xfrm>
            <a:off x="6469380" y="3438144"/>
            <a:ext cx="2468880" cy="1546119"/>
          </a:xfrm>
          <a:prstGeom prst="rect">
            <a:avLst/>
          </a:prstGeom>
        </p:spPr>
      </p:pic>
      <p:sp>
        <p:nvSpPr>
          <p:cNvPr id="38" name="Shape 33"/>
          <p:cNvSpPr/>
          <p:nvPr/>
        </p:nvSpPr>
        <p:spPr>
          <a:xfrm>
            <a:off x="9189720" y="2834640"/>
            <a:ext cx="2468880" cy="2651760"/>
          </a:xfrm>
          <a:prstGeom prst="roundRect">
            <a:avLst>
              <a:gd name="adj" fmla="val 2963"/>
            </a:avLst>
          </a:prstGeom>
          <a:solidFill>
            <a:srgbClr val="FFFFFF"/>
          </a:solidFill>
          <a:ln w="12700">
            <a:solidFill>
              <a:srgbClr val="E3E8F5"/>
            </a:solidFill>
            <a:prstDash val="solid"/>
          </a:ln>
        </p:spPr>
      </p:sp>
      <p:sp>
        <p:nvSpPr>
          <p:cNvPr id="39" name="Text 34"/>
          <p:cNvSpPr/>
          <p:nvPr/>
        </p:nvSpPr>
        <p:spPr>
          <a:xfrm>
            <a:off x="9308592" y="2926080"/>
            <a:ext cx="2240280" cy="228600"/>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DeepAR Forecasted Prices</a:t>
            </a:r>
            <a:endParaRPr lang="en-US" sz="950" dirty="0"/>
          </a:p>
        </p:txBody>
      </p:sp>
      <p:pic>
        <p:nvPicPr>
          <p:cNvPr id="40" name="Image 1" descr="/home/claude/ppt/imgs/Screenshot_2026-06-28_085100.png"/>
          <p:cNvPicPr>
            <a:picLocks noChangeAspect="1"/>
          </p:cNvPicPr>
          <p:nvPr/>
        </p:nvPicPr>
        <p:blipFill>
          <a:blip r:embed="rId4"/>
          <a:stretch>
            <a:fillRect/>
          </a:stretch>
        </p:blipFill>
        <p:spPr>
          <a:xfrm>
            <a:off x="9304020" y="3438144"/>
            <a:ext cx="2240280" cy="1402185"/>
          </a:xfrm>
          <a:prstGeom prst="rect">
            <a:avLst/>
          </a:prstGeom>
        </p:spPr>
      </p:pic>
      <p:sp>
        <p:nvSpPr>
          <p:cNvPr id="41" name="Text 35"/>
          <p:cNvSpPr/>
          <p:nvPr/>
        </p:nvSpPr>
        <p:spPr>
          <a:xfrm>
            <a:off x="6422736" y="5507736"/>
            <a:ext cx="5303520" cy="502920"/>
          </a:xfrm>
          <a:prstGeom prst="rect">
            <a:avLst/>
          </a:prstGeom>
          <a:noFill/>
          <a:ln/>
        </p:spPr>
        <p:txBody>
          <a:bodyPr wrap="square" rtlCol="0" anchor="ctr"/>
          <a:lstStyle/>
          <a:p>
            <a:pPr marL="0" indent="0">
              <a:buNone/>
            </a:pPr>
            <a:r>
              <a:rPr lang="en-US" sz="950" i="1" dirty="0">
                <a:solidFill>
                  <a:srgbClr val="5B6B9E"/>
                </a:solidFill>
                <a:latin typeface="Calibri" pitchFamily="34" charset="0"/>
                <a:ea typeface="Calibri" pitchFamily="34" charset="-122"/>
                <a:cs typeface="Calibri" pitchFamily="34" charset="-120"/>
              </a:rPr>
              <a:t>Metrics are on the log-return scale and are not directly comparable with LSTM's price-scale metrics.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4572000" cy="274320"/>
          </a:xfrm>
          <a:prstGeom prst="rect">
            <a:avLst/>
          </a:prstGeom>
          <a:noFill/>
          <a:ln/>
        </p:spPr>
        <p:txBody>
          <a:bodyPr wrap="square" rtlCol="0" anchor="ctr"/>
          <a:lstStyle/>
          <a:p>
            <a:pPr marL="0" indent="0">
              <a:buNone/>
            </a:pPr>
            <a:r>
              <a:rPr lang="en-US" sz="1200" b="1" kern="0" spc="200" dirty="0">
                <a:solidFill>
                  <a:srgbClr val="00C2A8"/>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621792"/>
            <a:ext cx="105156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7-Day Forecast Comparison: LSTM vs DeepAR</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394960" cy="3291840"/>
        </p:xfrm>
        <a:graphic>
          <a:graphicData uri="http://schemas.openxmlformats.org/drawingml/2006/table">
            <a:tbl>
              <a:tblPr/>
              <a:tblGrid>
                <a:gridCol w="201168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marL="101600" marR="101600" marT="50800" marB="508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1E2761"/>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LSTM (₹)</a:t>
                      </a:r>
                      <a:endParaRPr lang="en-US" sz="1200" dirty="0">
                        <a:latin typeface="Calibri" charset="0"/>
                        <a:ea typeface="Calibri" charset="0"/>
                        <a:cs typeface="Calibri" charset="0"/>
                      </a:endParaRPr>
                    </a:p>
                  </a:txBody>
                  <a:tcPr marL="101600" marR="101600" marT="50800" marB="508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1E2761"/>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DeepAR (₹)</a:t>
                      </a:r>
                      <a:endParaRPr lang="en-US" sz="1200" dirty="0">
                        <a:latin typeface="Calibri" charset="0"/>
                        <a:ea typeface="Calibri" charset="0"/>
                        <a:cs typeface="Calibri" charset="0"/>
                      </a:endParaRPr>
                    </a:p>
                  </a:txBody>
                  <a:tcPr marL="101600" marR="101600" marT="50800" marB="508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11480">
                <a:tc>
                  <a:txBody>
                    <a:bodyPr/>
                    <a:lstStyle/>
                    <a:p>
                      <a:pPr marL="0" indent="0">
                        <a:buNone/>
                      </a:pPr>
                      <a:r>
                        <a:rPr lang="en-US" sz="1150" dirty="0">
                          <a:solidFill>
                            <a:srgbClr val="1E2761"/>
                          </a:solidFill>
                          <a:latin typeface="Calibri" pitchFamily="34" charset="0"/>
                          <a:ea typeface="Calibri" pitchFamily="34" charset="-122"/>
                          <a:cs typeface="Calibri" pitchFamily="34" charset="-120"/>
                        </a:rPr>
                        <a:t>26-Jun-2026</a:t>
                      </a:r>
                      <a:endParaRPr lang="en-US" sz="1150" dirty="0">
                        <a:latin typeface="Calibri" charset="0"/>
                        <a:ea typeface="Calibri" charset="0"/>
                        <a:cs typeface="Calibri" charset="0"/>
                      </a:endParaRPr>
                    </a:p>
                  </a:txBody>
                  <a:tcPr marL="101600" marR="101600" marT="50800" marB="508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1E2761"/>
                          </a:solidFill>
                          <a:latin typeface="Calibri" pitchFamily="34" charset="0"/>
                          <a:ea typeface="Calibri" pitchFamily="34" charset="-122"/>
                          <a:cs typeface="Calibri" pitchFamily="34" charset="-120"/>
                        </a:rPr>
                        <a:t>1399.12</a:t>
                      </a:r>
                      <a:endParaRPr lang="en-US" sz="1150" dirty="0">
                        <a:latin typeface="Calibri" charset="0"/>
                        <a:ea typeface="Calibri" charset="0"/>
                        <a:cs typeface="Calibri" charset="0"/>
                      </a:endParaRPr>
                    </a:p>
                  </a:txBody>
                  <a:tcPr marL="101600" marR="101600" marT="50800" marB="508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0E8C7A"/>
                          </a:solidFill>
                          <a:latin typeface="Calibri" pitchFamily="34" charset="0"/>
                          <a:ea typeface="Calibri" pitchFamily="34" charset="-122"/>
                          <a:cs typeface="Calibri" pitchFamily="34" charset="-120"/>
                        </a:rPr>
                        <a:t>1446.78</a:t>
                      </a:r>
                      <a:endParaRPr lang="en-US" sz="1150" dirty="0">
                        <a:latin typeface="Calibri" charset="0"/>
                        <a:ea typeface="Calibri" charset="0"/>
                        <a:cs typeface="Calibri" charset="0"/>
                      </a:endParaRPr>
                    </a:p>
                  </a:txBody>
                  <a:tcPr marL="101600" marR="101600" marT="50800" marB="508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150" dirty="0">
                          <a:solidFill>
                            <a:srgbClr val="1E2761"/>
                          </a:solidFill>
                          <a:latin typeface="Calibri" pitchFamily="34" charset="0"/>
                          <a:ea typeface="Calibri" pitchFamily="34" charset="-122"/>
                          <a:cs typeface="Calibri" pitchFamily="34" charset="-120"/>
                        </a:rPr>
                        <a:t>29-Jun-2026</a:t>
                      </a:r>
                      <a:endParaRPr lang="en-US" sz="1150" dirty="0">
                        <a:latin typeface="Calibri" charset="0"/>
                        <a:ea typeface="Calibri" charset="0"/>
                        <a:cs typeface="Calibri" charset="0"/>
                      </a:endParaRPr>
                    </a:p>
                  </a:txBody>
                  <a:tcPr marL="101600" marR="101600" marT="50800" marB="508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tc>
                  <a:txBody>
                    <a:bodyPr/>
                    <a:lstStyle/>
                    <a:p>
                      <a:pPr marL="0" indent="0" algn="r">
                        <a:buNone/>
                      </a:pPr>
                      <a:r>
                        <a:rPr lang="en-US" sz="1150" b="1" dirty="0">
                          <a:solidFill>
                            <a:srgbClr val="1E2761"/>
                          </a:solidFill>
                          <a:latin typeface="Calibri" pitchFamily="34" charset="0"/>
                          <a:ea typeface="Calibri" pitchFamily="34" charset="-122"/>
                          <a:cs typeface="Calibri" pitchFamily="34" charset="-120"/>
                        </a:rPr>
                        <a:t>1403.99</a:t>
                      </a:r>
                      <a:endParaRPr lang="en-US" sz="1150" dirty="0">
                        <a:latin typeface="Calibri" charset="0"/>
                        <a:ea typeface="Calibri" charset="0"/>
                        <a:cs typeface="Calibri" charset="0"/>
                      </a:endParaRPr>
                    </a:p>
                  </a:txBody>
                  <a:tcPr marL="101600" marR="101600" marT="50800" marB="508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tc>
                  <a:txBody>
                    <a:bodyPr/>
                    <a:lstStyle/>
                    <a:p>
                      <a:pPr marL="0" indent="0" algn="r">
                        <a:buNone/>
                      </a:pPr>
                      <a:r>
                        <a:rPr lang="en-US" sz="1150" b="1" dirty="0">
                          <a:solidFill>
                            <a:srgbClr val="0E8C7A"/>
                          </a:solidFill>
                          <a:latin typeface="Calibri" pitchFamily="34" charset="0"/>
                          <a:ea typeface="Calibri" pitchFamily="34" charset="-122"/>
                          <a:cs typeface="Calibri" pitchFamily="34" charset="-120"/>
                        </a:rPr>
                        <a:t>1428.72</a:t>
                      </a:r>
                      <a:endParaRPr lang="en-US" sz="1150" dirty="0">
                        <a:latin typeface="Calibri" charset="0"/>
                        <a:ea typeface="Calibri" charset="0"/>
                        <a:cs typeface="Calibri" charset="0"/>
                      </a:endParaRPr>
                    </a:p>
                  </a:txBody>
                  <a:tcPr marL="101600" marR="101600" marT="50800" marB="508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extLst>
                  <a:ext uri="{0D108BD9-81ED-4DB2-BD59-A6C34878D82A}">
                    <a16:rowId xmlns:a16="http://schemas.microsoft.com/office/drawing/2014/main" val="10002"/>
                  </a:ext>
                </a:extLst>
              </a:tr>
              <a:tr h="411480">
                <a:tc>
                  <a:txBody>
                    <a:bodyPr/>
                    <a:lstStyle/>
                    <a:p>
                      <a:pPr marL="0" indent="0">
                        <a:buNone/>
                      </a:pPr>
                      <a:r>
                        <a:rPr lang="en-US" sz="1150" dirty="0">
                          <a:solidFill>
                            <a:srgbClr val="1E2761"/>
                          </a:solidFill>
                          <a:latin typeface="Calibri" pitchFamily="34" charset="0"/>
                          <a:ea typeface="Calibri" pitchFamily="34" charset="-122"/>
                          <a:cs typeface="Calibri" pitchFamily="34" charset="-120"/>
                        </a:rPr>
                        <a:t>30-Jun-2026</a:t>
                      </a:r>
                      <a:endParaRPr lang="en-US" sz="1150" dirty="0">
                        <a:latin typeface="Calibri" charset="0"/>
                        <a:ea typeface="Calibri" charset="0"/>
                        <a:cs typeface="Calibri" charset="0"/>
                      </a:endParaRPr>
                    </a:p>
                  </a:txBody>
                  <a:tcPr marL="101600" marR="101600" marT="50800" marB="508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1E2761"/>
                          </a:solidFill>
                          <a:latin typeface="Calibri" pitchFamily="34" charset="0"/>
                          <a:ea typeface="Calibri" pitchFamily="34" charset="-122"/>
                          <a:cs typeface="Calibri" pitchFamily="34" charset="-120"/>
                        </a:rPr>
                        <a:t>1407.83</a:t>
                      </a:r>
                      <a:endParaRPr lang="en-US" sz="1150" dirty="0">
                        <a:latin typeface="Calibri" charset="0"/>
                        <a:ea typeface="Calibri" charset="0"/>
                        <a:cs typeface="Calibri" charset="0"/>
                      </a:endParaRPr>
                    </a:p>
                  </a:txBody>
                  <a:tcPr marL="101600" marR="101600" marT="50800" marB="508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0E8C7A"/>
                          </a:solidFill>
                          <a:latin typeface="Calibri" pitchFamily="34" charset="0"/>
                          <a:ea typeface="Calibri" pitchFamily="34" charset="-122"/>
                          <a:cs typeface="Calibri" pitchFamily="34" charset="-120"/>
                        </a:rPr>
                        <a:t>1427.80</a:t>
                      </a:r>
                      <a:endParaRPr lang="en-US" sz="1150" dirty="0">
                        <a:latin typeface="Calibri" charset="0"/>
                        <a:ea typeface="Calibri" charset="0"/>
                        <a:cs typeface="Calibri" charset="0"/>
                      </a:endParaRPr>
                    </a:p>
                  </a:txBody>
                  <a:tcPr marL="101600" marR="101600" marT="50800" marB="508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150" dirty="0">
                          <a:solidFill>
                            <a:srgbClr val="1E2761"/>
                          </a:solidFill>
                          <a:latin typeface="Calibri" pitchFamily="34" charset="0"/>
                          <a:ea typeface="Calibri" pitchFamily="34" charset="-122"/>
                          <a:cs typeface="Calibri" pitchFamily="34" charset="-120"/>
                        </a:rPr>
                        <a:t>01-Jul-2026</a:t>
                      </a:r>
                      <a:endParaRPr lang="en-US" sz="1150" dirty="0">
                        <a:latin typeface="Calibri" charset="0"/>
                        <a:ea typeface="Calibri" charset="0"/>
                        <a:cs typeface="Calibri" charset="0"/>
                      </a:endParaRPr>
                    </a:p>
                  </a:txBody>
                  <a:tcPr marL="101600" marR="101600" marT="50800" marB="508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tc>
                  <a:txBody>
                    <a:bodyPr/>
                    <a:lstStyle/>
                    <a:p>
                      <a:pPr marL="0" indent="0" algn="r">
                        <a:buNone/>
                      </a:pPr>
                      <a:r>
                        <a:rPr lang="en-US" sz="1150" b="1" dirty="0">
                          <a:solidFill>
                            <a:srgbClr val="1E2761"/>
                          </a:solidFill>
                          <a:latin typeface="Calibri" pitchFamily="34" charset="0"/>
                          <a:ea typeface="Calibri" pitchFamily="34" charset="-122"/>
                          <a:cs typeface="Calibri" pitchFamily="34" charset="-120"/>
                        </a:rPr>
                        <a:t>1410.94</a:t>
                      </a:r>
                      <a:endParaRPr lang="en-US" sz="1150" dirty="0">
                        <a:latin typeface="Calibri" charset="0"/>
                        <a:ea typeface="Calibri" charset="0"/>
                        <a:cs typeface="Calibri" charset="0"/>
                      </a:endParaRPr>
                    </a:p>
                  </a:txBody>
                  <a:tcPr marL="101600" marR="101600" marT="50800" marB="508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tc>
                  <a:txBody>
                    <a:bodyPr/>
                    <a:lstStyle/>
                    <a:p>
                      <a:pPr marL="0" indent="0" algn="r">
                        <a:buNone/>
                      </a:pPr>
                      <a:r>
                        <a:rPr lang="en-US" sz="1150" b="1" dirty="0">
                          <a:solidFill>
                            <a:srgbClr val="0E8C7A"/>
                          </a:solidFill>
                          <a:latin typeface="Calibri" pitchFamily="34" charset="0"/>
                          <a:ea typeface="Calibri" pitchFamily="34" charset="-122"/>
                          <a:cs typeface="Calibri" pitchFamily="34" charset="-120"/>
                        </a:rPr>
                        <a:t>1419.04</a:t>
                      </a:r>
                      <a:endParaRPr lang="en-US" sz="1150" dirty="0">
                        <a:latin typeface="Calibri" charset="0"/>
                        <a:ea typeface="Calibri" charset="0"/>
                        <a:cs typeface="Calibri" charset="0"/>
                      </a:endParaRPr>
                    </a:p>
                  </a:txBody>
                  <a:tcPr marL="101600" marR="101600" marT="50800" marB="508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extLst>
                  <a:ext uri="{0D108BD9-81ED-4DB2-BD59-A6C34878D82A}">
                    <a16:rowId xmlns:a16="http://schemas.microsoft.com/office/drawing/2014/main" val="10004"/>
                  </a:ext>
                </a:extLst>
              </a:tr>
              <a:tr h="411480">
                <a:tc>
                  <a:txBody>
                    <a:bodyPr/>
                    <a:lstStyle/>
                    <a:p>
                      <a:pPr marL="0" indent="0">
                        <a:buNone/>
                      </a:pPr>
                      <a:r>
                        <a:rPr lang="en-US" sz="1150" dirty="0">
                          <a:solidFill>
                            <a:srgbClr val="1E2761"/>
                          </a:solidFill>
                          <a:latin typeface="Calibri" pitchFamily="34" charset="0"/>
                          <a:ea typeface="Calibri" pitchFamily="34" charset="-122"/>
                          <a:cs typeface="Calibri" pitchFamily="34" charset="-120"/>
                        </a:rPr>
                        <a:t>02-Jul-2026</a:t>
                      </a:r>
                      <a:endParaRPr lang="en-US" sz="1150" dirty="0">
                        <a:latin typeface="Calibri" charset="0"/>
                        <a:ea typeface="Calibri" charset="0"/>
                        <a:cs typeface="Calibri" charset="0"/>
                      </a:endParaRPr>
                    </a:p>
                  </a:txBody>
                  <a:tcPr marL="101600" marR="101600" marT="50800" marB="508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1E2761"/>
                          </a:solidFill>
                          <a:latin typeface="Calibri" pitchFamily="34" charset="0"/>
                          <a:ea typeface="Calibri" pitchFamily="34" charset="-122"/>
                          <a:cs typeface="Calibri" pitchFamily="34" charset="-120"/>
                        </a:rPr>
                        <a:t>1413.56</a:t>
                      </a:r>
                      <a:endParaRPr lang="en-US" sz="1150" dirty="0">
                        <a:latin typeface="Calibri" charset="0"/>
                        <a:ea typeface="Calibri" charset="0"/>
                        <a:cs typeface="Calibri" charset="0"/>
                      </a:endParaRPr>
                    </a:p>
                  </a:txBody>
                  <a:tcPr marL="101600" marR="101600" marT="50800" marB="508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0E8C7A"/>
                          </a:solidFill>
                          <a:latin typeface="Calibri" pitchFamily="34" charset="0"/>
                          <a:ea typeface="Calibri" pitchFamily="34" charset="-122"/>
                          <a:cs typeface="Calibri" pitchFamily="34" charset="-120"/>
                        </a:rPr>
                        <a:t>1445.08</a:t>
                      </a:r>
                      <a:endParaRPr lang="en-US" sz="1150" dirty="0">
                        <a:latin typeface="Calibri" charset="0"/>
                        <a:ea typeface="Calibri" charset="0"/>
                        <a:cs typeface="Calibri" charset="0"/>
                      </a:endParaRPr>
                    </a:p>
                  </a:txBody>
                  <a:tcPr marL="101600" marR="101600" marT="50800" marB="508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buNone/>
                      </a:pPr>
                      <a:r>
                        <a:rPr lang="en-US" sz="1150" dirty="0">
                          <a:solidFill>
                            <a:srgbClr val="1E2761"/>
                          </a:solidFill>
                          <a:latin typeface="Calibri" pitchFamily="34" charset="0"/>
                          <a:ea typeface="Calibri" pitchFamily="34" charset="-122"/>
                          <a:cs typeface="Calibri" pitchFamily="34" charset="-120"/>
                        </a:rPr>
                        <a:t>03-Jul-2026</a:t>
                      </a:r>
                      <a:endParaRPr lang="en-US" sz="1150" dirty="0">
                        <a:latin typeface="Calibri" charset="0"/>
                        <a:ea typeface="Calibri" charset="0"/>
                        <a:cs typeface="Calibri" charset="0"/>
                      </a:endParaRPr>
                    </a:p>
                  </a:txBody>
                  <a:tcPr marL="101600" marR="101600" marT="50800" marB="508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tc>
                  <a:txBody>
                    <a:bodyPr/>
                    <a:lstStyle/>
                    <a:p>
                      <a:pPr marL="0" indent="0" algn="r">
                        <a:buNone/>
                      </a:pPr>
                      <a:r>
                        <a:rPr lang="en-US" sz="1150" b="1" dirty="0">
                          <a:solidFill>
                            <a:srgbClr val="1E2761"/>
                          </a:solidFill>
                          <a:latin typeface="Calibri" pitchFamily="34" charset="0"/>
                          <a:ea typeface="Calibri" pitchFamily="34" charset="-122"/>
                          <a:cs typeface="Calibri" pitchFamily="34" charset="-120"/>
                        </a:rPr>
                        <a:t>1415.83</a:t>
                      </a:r>
                      <a:endParaRPr lang="en-US" sz="1150" dirty="0">
                        <a:latin typeface="Calibri" charset="0"/>
                        <a:ea typeface="Calibri" charset="0"/>
                        <a:cs typeface="Calibri" charset="0"/>
                      </a:endParaRPr>
                    </a:p>
                  </a:txBody>
                  <a:tcPr marL="101600" marR="101600" marT="50800" marB="508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tc>
                  <a:txBody>
                    <a:bodyPr/>
                    <a:lstStyle/>
                    <a:p>
                      <a:pPr marL="0" indent="0" algn="r">
                        <a:buNone/>
                      </a:pPr>
                      <a:r>
                        <a:rPr lang="en-US" sz="1150" b="1" dirty="0">
                          <a:solidFill>
                            <a:srgbClr val="0E8C7A"/>
                          </a:solidFill>
                          <a:latin typeface="Calibri" pitchFamily="34" charset="0"/>
                          <a:ea typeface="Calibri" pitchFamily="34" charset="-122"/>
                          <a:cs typeface="Calibri" pitchFamily="34" charset="-120"/>
                        </a:rPr>
                        <a:t>1441.08</a:t>
                      </a:r>
                      <a:endParaRPr lang="en-US" sz="1150" dirty="0">
                        <a:latin typeface="Calibri" charset="0"/>
                        <a:ea typeface="Calibri" charset="0"/>
                        <a:cs typeface="Calibri" charset="0"/>
                      </a:endParaRPr>
                    </a:p>
                  </a:txBody>
                  <a:tcPr marL="101600" marR="101600" marT="50800" marB="508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4F7FE"/>
                    </a:solidFill>
                  </a:tcPr>
                </a:tc>
                <a:extLst>
                  <a:ext uri="{0D108BD9-81ED-4DB2-BD59-A6C34878D82A}">
                    <a16:rowId xmlns:a16="http://schemas.microsoft.com/office/drawing/2014/main" val="10006"/>
                  </a:ext>
                </a:extLst>
              </a:tr>
              <a:tr h="411480">
                <a:tc>
                  <a:txBody>
                    <a:bodyPr/>
                    <a:lstStyle/>
                    <a:p>
                      <a:pPr marL="0" indent="0">
                        <a:buNone/>
                      </a:pPr>
                      <a:r>
                        <a:rPr lang="en-US" sz="1150" dirty="0">
                          <a:solidFill>
                            <a:srgbClr val="1E2761"/>
                          </a:solidFill>
                          <a:latin typeface="Calibri" pitchFamily="34" charset="0"/>
                          <a:ea typeface="Calibri" pitchFamily="34" charset="-122"/>
                          <a:cs typeface="Calibri" pitchFamily="34" charset="-120"/>
                        </a:rPr>
                        <a:t>06-Jul-2026</a:t>
                      </a:r>
                      <a:endParaRPr lang="en-US" sz="1150" dirty="0">
                        <a:latin typeface="Calibri" charset="0"/>
                        <a:ea typeface="Calibri" charset="0"/>
                        <a:cs typeface="Calibri" charset="0"/>
                      </a:endParaRPr>
                    </a:p>
                  </a:txBody>
                  <a:tcPr marL="101600" marR="101600" marT="50800" marB="508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1E2761"/>
                          </a:solidFill>
                          <a:latin typeface="Calibri" pitchFamily="34" charset="0"/>
                          <a:ea typeface="Calibri" pitchFamily="34" charset="-122"/>
                          <a:cs typeface="Calibri" pitchFamily="34" charset="-120"/>
                        </a:rPr>
                        <a:t>1417.86</a:t>
                      </a:r>
                      <a:endParaRPr lang="en-US" sz="1150" dirty="0">
                        <a:latin typeface="Calibri" charset="0"/>
                        <a:ea typeface="Calibri" charset="0"/>
                        <a:cs typeface="Calibri" charset="0"/>
                      </a:endParaRPr>
                    </a:p>
                  </a:txBody>
                  <a:tcPr marL="101600" marR="101600" marT="50800" marB="508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0E8C7A"/>
                          </a:solidFill>
                          <a:latin typeface="Calibri" pitchFamily="34" charset="0"/>
                          <a:ea typeface="Calibri" pitchFamily="34" charset="-122"/>
                          <a:cs typeface="Calibri" pitchFamily="34" charset="-120"/>
                        </a:rPr>
                        <a:t>1451.46</a:t>
                      </a:r>
                      <a:endParaRPr lang="en-US" sz="1150" dirty="0">
                        <a:latin typeface="Calibri" charset="0"/>
                        <a:ea typeface="Calibri" charset="0"/>
                        <a:cs typeface="Calibri" charset="0"/>
                      </a:endParaRPr>
                    </a:p>
                  </a:txBody>
                  <a:tcPr marL="101600" marR="101600" marT="50800" marB="50800" anchor="ctr">
                    <a:lnL w="9525" cap="flat" cmpd="sng" algn="ctr">
                      <a:solidFill>
                        <a:srgbClr val="E3E8F5"/>
                      </a:solidFill>
                      <a:prstDash val="solid"/>
                      <a:round/>
                      <a:headEnd type="none" w="med" len="med"/>
                      <a:tailEnd type="none" w="med" len="med"/>
                    </a:lnL>
                    <a:lnR w="9525" cap="flat" cmpd="sng" algn="ctr">
                      <a:solidFill>
                        <a:srgbClr val="E3E8F5"/>
                      </a:solidFill>
                      <a:prstDash val="solid"/>
                      <a:round/>
                      <a:headEnd type="none" w="med" len="med"/>
                      <a:tailEnd type="none" w="med" len="med"/>
                    </a:lnR>
                    <a:lnT w="9525" cap="flat" cmpd="sng" algn="ctr">
                      <a:solidFill>
                        <a:srgbClr val="E3E8F5"/>
                      </a:solidFill>
                      <a:prstDash val="solid"/>
                      <a:round/>
                      <a:headEnd type="none" w="med" len="med"/>
                      <a:tailEnd type="none" w="med" len="med"/>
                    </a:lnT>
                    <a:lnB w="9525" cap="flat" cmpd="sng" algn="ctr">
                      <a:solidFill>
                        <a:srgbClr val="E3E8F5"/>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graphicFrame>
        <p:nvGraphicFramePr>
          <p:cNvPr id="4" name="Chart 0"/>
          <p:cNvGraphicFramePr/>
          <p:nvPr>
            <p:extLst>
              <p:ext uri="{D42A27DB-BD31-4B8C-83A1-F6EECF244321}">
                <p14:modId xmlns:p14="http://schemas.microsoft.com/office/powerpoint/2010/main" val="3847969727"/>
              </p:ext>
            </p:extLst>
          </p:nvPr>
        </p:nvGraphicFramePr>
        <p:xfrm>
          <a:off x="6172200" y="1417320"/>
          <a:ext cx="548640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p:nvPr/>
        </p:nvSpPr>
        <p:spPr>
          <a:xfrm>
            <a:off x="548640" y="4892040"/>
            <a:ext cx="11064240" cy="292608"/>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Observations</a:t>
            </a:r>
            <a:endParaRPr lang="en-US" sz="1500" dirty="0"/>
          </a:p>
        </p:txBody>
      </p:sp>
      <p:sp>
        <p:nvSpPr>
          <p:cNvPr id="7" name="Text 3"/>
          <p:cNvSpPr/>
          <p:nvPr/>
        </p:nvSpPr>
        <p:spPr>
          <a:xfrm>
            <a:off x="548640" y="5230368"/>
            <a:ext cx="11064240" cy="1371600"/>
          </a:xfrm>
          <a:prstGeom prst="rect">
            <a:avLst/>
          </a:prstGeom>
          <a:noFill/>
          <a:ln/>
        </p:spPr>
        <p:txBody>
          <a:bodyPr wrap="square" rtlCol="0" anchor="ctr"/>
          <a:lstStyle/>
          <a:p>
            <a:pPr marL="342900" indent="-342900">
              <a:spcAft>
                <a:spcPts val="600"/>
              </a:spcAft>
              <a:buSzPct val="100000"/>
              <a:buChar char="•"/>
            </a:pPr>
            <a:r>
              <a:rPr lang="en-US" sz="1200" dirty="0">
                <a:solidFill>
                  <a:srgbClr val="1E2761"/>
                </a:solidFill>
                <a:latin typeface="Calibri" pitchFamily="34" charset="0"/>
                <a:ea typeface="Calibri" pitchFamily="34" charset="-122"/>
                <a:cs typeface="Calibri" pitchFamily="34" charset="-120"/>
              </a:rPr>
              <a:t>Both models successfully forecasted the next 7 trading days</a:t>
            </a:r>
            <a:endParaRPr lang="en-US" sz="1200" dirty="0"/>
          </a:p>
          <a:p>
            <a:pPr marL="342900" indent="-342900">
              <a:spcAft>
                <a:spcPts val="600"/>
              </a:spcAft>
              <a:buSzPct val="100000"/>
              <a:buChar char="•"/>
            </a:pPr>
            <a:r>
              <a:rPr lang="en-US" sz="1200" dirty="0">
                <a:solidFill>
                  <a:srgbClr val="1E2761"/>
                </a:solidFill>
                <a:latin typeface="Calibri" pitchFamily="34" charset="0"/>
                <a:ea typeface="Calibri" pitchFamily="34" charset="-122"/>
                <a:cs typeface="Calibri" pitchFamily="34" charset="-120"/>
              </a:rPr>
              <a:t>LSTM predicts Opening price directly; DeepAR predicts log returns, converted back to price</a:t>
            </a:r>
            <a:endParaRPr lang="en-US" sz="1200" dirty="0"/>
          </a:p>
          <a:p>
            <a:pPr marL="342900" indent="-342900">
              <a:spcAft>
                <a:spcPts val="600"/>
              </a:spcAft>
              <a:buSzPct val="100000"/>
              <a:buChar char="•"/>
            </a:pPr>
            <a:r>
              <a:rPr lang="en-US" sz="1200" dirty="0">
                <a:solidFill>
                  <a:srgbClr val="1E2761"/>
                </a:solidFill>
                <a:latin typeface="Calibri" pitchFamily="34" charset="0"/>
                <a:ea typeface="Calibri" pitchFamily="34" charset="-122"/>
                <a:cs typeface="Calibri" pitchFamily="34" charset="-120"/>
              </a:rPr>
              <a:t>DeepAR forecasts are generally higher than LSTM over the horizon</a:t>
            </a:r>
            <a:endParaRPr lang="en-US" sz="1200" dirty="0"/>
          </a:p>
          <a:p>
            <a:pPr marL="342900" indent="-342900">
              <a:spcAft>
                <a:spcPts val="600"/>
              </a:spcAft>
              <a:buSzPct val="100000"/>
              <a:buChar char="•"/>
            </a:pPr>
            <a:r>
              <a:rPr lang="en-US" sz="1200" dirty="0">
                <a:solidFill>
                  <a:srgbClr val="1E2761"/>
                </a:solidFill>
                <a:latin typeface="Calibri" pitchFamily="34" charset="0"/>
                <a:ea typeface="Calibri" pitchFamily="34" charset="-122"/>
                <a:cs typeface="Calibri" pitchFamily="34" charset="-120"/>
              </a:rPr>
              <a:t>Both models indicate a relatively stable to slightly increasing price trend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502920"/>
            <a:ext cx="7315200" cy="320040"/>
          </a:xfrm>
          <a:prstGeom prst="rect">
            <a:avLst/>
          </a:prstGeom>
          <a:noFill/>
          <a:ln/>
        </p:spPr>
        <p:txBody>
          <a:bodyPr wrap="square" rtlCol="0" anchor="ctr"/>
          <a:lstStyle/>
          <a:p>
            <a:pPr marL="0" indent="0">
              <a:buNone/>
            </a:pPr>
            <a:r>
              <a:rPr lang="en-US" sz="1300" b="1" kern="0" spc="200" dirty="0">
                <a:solidFill>
                  <a:srgbClr val="00C2A8"/>
                </a:solidFill>
                <a:latin typeface="Calibri" pitchFamily="34" charset="0"/>
                <a:ea typeface="Calibri" pitchFamily="34" charset="-122"/>
                <a:cs typeface="Calibri" pitchFamily="34" charset="-120"/>
              </a:rPr>
              <a:t>CONCLUSION</a:t>
            </a:r>
            <a:endParaRPr lang="en-US" sz="1300" dirty="0"/>
          </a:p>
        </p:txBody>
      </p:sp>
      <p:sp>
        <p:nvSpPr>
          <p:cNvPr id="3" name="Text 1"/>
          <p:cNvSpPr/>
          <p:nvPr/>
        </p:nvSpPr>
        <p:spPr>
          <a:xfrm>
            <a:off x="548640" y="841248"/>
            <a:ext cx="10515600" cy="5943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Diagnostic Insights &amp; Conclusion</a:t>
            </a:r>
            <a:endParaRPr lang="en-US" sz="3000" dirty="0"/>
          </a:p>
        </p:txBody>
      </p:sp>
      <p:sp>
        <p:nvSpPr>
          <p:cNvPr id="4" name="Shape 2"/>
          <p:cNvSpPr/>
          <p:nvPr/>
        </p:nvSpPr>
        <p:spPr>
          <a:xfrm>
            <a:off x="567112" y="1792316"/>
            <a:ext cx="11091672" cy="2788920"/>
          </a:xfrm>
          <a:prstGeom prst="roundRect">
            <a:avLst>
              <a:gd name="adj" fmla="val 2623"/>
            </a:avLst>
          </a:prstGeom>
          <a:solidFill>
            <a:srgbClr val="FFFFFF"/>
          </a:solidFill>
          <a:ln/>
        </p:spPr>
      </p:sp>
      <p:sp>
        <p:nvSpPr>
          <p:cNvPr id="5" name="Shape 3"/>
          <p:cNvSpPr/>
          <p:nvPr/>
        </p:nvSpPr>
        <p:spPr>
          <a:xfrm>
            <a:off x="868680" y="2029968"/>
            <a:ext cx="502920" cy="502920"/>
          </a:xfrm>
          <a:prstGeom prst="ellipse">
            <a:avLst/>
          </a:prstGeom>
          <a:solidFill>
            <a:srgbClr val="1E2761"/>
          </a:solidFill>
          <a:ln/>
        </p:spPr>
      </p:sp>
      <p:pic>
        <p:nvPicPr>
          <p:cNvPr id="6" name="Image 0" descr="preencoded.png"/>
          <p:cNvPicPr>
            <a:picLocks noChangeAspect="1"/>
          </p:cNvPicPr>
          <p:nvPr/>
        </p:nvPicPr>
        <p:blipFill>
          <a:blip r:embed="rId3"/>
          <a:stretch>
            <a:fillRect/>
          </a:stretch>
        </p:blipFill>
        <p:spPr>
          <a:xfrm>
            <a:off x="999439" y="2160727"/>
            <a:ext cx="241402" cy="241402"/>
          </a:xfrm>
          <a:prstGeom prst="rect">
            <a:avLst/>
          </a:prstGeom>
        </p:spPr>
      </p:pic>
      <p:sp>
        <p:nvSpPr>
          <p:cNvPr id="7" name="Text 4"/>
          <p:cNvSpPr/>
          <p:nvPr/>
        </p:nvSpPr>
        <p:spPr>
          <a:xfrm>
            <a:off x="1508760" y="2103120"/>
            <a:ext cx="7315200" cy="36576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Diagnostic Insights</a:t>
            </a:r>
            <a:endParaRPr lang="en-US" sz="1700" dirty="0"/>
          </a:p>
        </p:txBody>
      </p:sp>
      <p:sp>
        <p:nvSpPr>
          <p:cNvPr id="8" name="Text 5"/>
          <p:cNvSpPr/>
          <p:nvPr/>
        </p:nvSpPr>
        <p:spPr>
          <a:xfrm>
            <a:off x="868680" y="2743200"/>
            <a:ext cx="3520440" cy="292608"/>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Approach Difference</a:t>
            </a:r>
            <a:endParaRPr lang="en-US" sz="1350" dirty="0"/>
          </a:p>
        </p:txBody>
      </p:sp>
      <p:sp>
        <p:nvSpPr>
          <p:cNvPr id="9" name="Text 6"/>
          <p:cNvSpPr/>
          <p:nvPr/>
        </p:nvSpPr>
        <p:spPr>
          <a:xfrm>
            <a:off x="868680" y="3054096"/>
            <a:ext cx="3520440" cy="1325880"/>
          </a:xfrm>
          <a:prstGeom prst="rect">
            <a:avLst/>
          </a:prstGeom>
          <a:noFill/>
          <a:ln/>
        </p:spPr>
        <p:txBody>
          <a:bodyPr wrap="square" rtlCol="0" anchor="ctr"/>
          <a:lstStyle/>
          <a:p>
            <a:pPr marL="0" indent="0">
              <a:buNone/>
            </a:pPr>
            <a:r>
              <a:rPr lang="en-US" sz="1150" dirty="0">
                <a:solidFill>
                  <a:srgbClr val="5B6B9E"/>
                </a:solidFill>
                <a:latin typeface="Calibri" pitchFamily="34" charset="0"/>
                <a:ea typeface="Calibri" pitchFamily="34" charset="-122"/>
                <a:cs typeface="Calibri" pitchFamily="34" charset="-120"/>
              </a:rPr>
              <a:t>LSTM predicts closing prices directly; DeepAR predicts daily log returns for a probabilistic perspective.</a:t>
            </a:r>
            <a:endParaRPr lang="en-US" sz="1150" dirty="0"/>
          </a:p>
        </p:txBody>
      </p:sp>
      <p:sp>
        <p:nvSpPr>
          <p:cNvPr id="10" name="Text 7"/>
          <p:cNvSpPr/>
          <p:nvPr/>
        </p:nvSpPr>
        <p:spPr>
          <a:xfrm>
            <a:off x="4617720" y="2743200"/>
            <a:ext cx="3520440" cy="292608"/>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Forecast Delta</a:t>
            </a:r>
            <a:endParaRPr lang="en-US" sz="1350" dirty="0"/>
          </a:p>
        </p:txBody>
      </p:sp>
      <p:sp>
        <p:nvSpPr>
          <p:cNvPr id="11" name="Text 8"/>
          <p:cNvSpPr/>
          <p:nvPr/>
        </p:nvSpPr>
        <p:spPr>
          <a:xfrm>
            <a:off x="4617720" y="3054096"/>
            <a:ext cx="3520440" cy="1325880"/>
          </a:xfrm>
          <a:prstGeom prst="rect">
            <a:avLst/>
          </a:prstGeom>
          <a:noFill/>
          <a:ln/>
        </p:spPr>
        <p:txBody>
          <a:bodyPr wrap="square" rtlCol="0" anchor="ctr"/>
          <a:lstStyle/>
          <a:p>
            <a:pPr marL="0" indent="0">
              <a:buNone/>
            </a:pPr>
            <a:r>
              <a:rPr lang="en-US" sz="1150" dirty="0">
                <a:solidFill>
                  <a:srgbClr val="5B6B9E"/>
                </a:solidFill>
                <a:latin typeface="Calibri" pitchFamily="34" charset="0"/>
                <a:ea typeface="Calibri" pitchFamily="34" charset="-122"/>
                <a:cs typeface="Calibri" pitchFamily="34" charset="-120"/>
              </a:rPr>
              <a:t>Both models indicate a stable to slightly increasing trend; DeepAR projects generally higher valuations.</a:t>
            </a:r>
            <a:endParaRPr lang="en-US" sz="1150" dirty="0"/>
          </a:p>
        </p:txBody>
      </p:sp>
      <p:sp>
        <p:nvSpPr>
          <p:cNvPr id="12" name="Text 9"/>
          <p:cNvSpPr/>
          <p:nvPr/>
        </p:nvSpPr>
        <p:spPr>
          <a:xfrm>
            <a:off x="8366760" y="2743200"/>
            <a:ext cx="3520440" cy="292608"/>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Historical Edge</a:t>
            </a:r>
            <a:endParaRPr lang="en-US" sz="1350" dirty="0"/>
          </a:p>
        </p:txBody>
      </p:sp>
      <p:sp>
        <p:nvSpPr>
          <p:cNvPr id="13" name="Text 10"/>
          <p:cNvSpPr/>
          <p:nvPr/>
        </p:nvSpPr>
        <p:spPr>
          <a:xfrm>
            <a:off x="8366760" y="3054096"/>
            <a:ext cx="3520440" cy="1325880"/>
          </a:xfrm>
          <a:prstGeom prst="rect">
            <a:avLst/>
          </a:prstGeom>
          <a:noFill/>
          <a:ln/>
        </p:spPr>
        <p:txBody>
          <a:bodyPr wrap="square" rtlCol="0" anchor="ctr"/>
          <a:lstStyle/>
          <a:p>
            <a:pPr marL="0" indent="0">
              <a:buNone/>
            </a:pPr>
            <a:r>
              <a:rPr lang="en-US" sz="1150" dirty="0">
                <a:solidFill>
                  <a:srgbClr val="5B6B9E"/>
                </a:solidFill>
                <a:latin typeface="Calibri" pitchFamily="34" charset="0"/>
                <a:ea typeface="Calibri" pitchFamily="34" charset="-122"/>
                <a:cs typeface="Calibri" pitchFamily="34" charset="-120"/>
              </a:rPr>
              <a:t>LSTM demonstrated superior performance for direct historical closing-price prediction.</a:t>
            </a:r>
            <a:endParaRPr lang="en-US" sz="1150" dirty="0"/>
          </a:p>
        </p:txBody>
      </p:sp>
      <p:sp>
        <p:nvSpPr>
          <p:cNvPr id="14" name="Text 11"/>
          <p:cNvSpPr/>
          <p:nvPr/>
        </p:nvSpPr>
        <p:spPr>
          <a:xfrm>
            <a:off x="868680" y="4160520"/>
            <a:ext cx="10424160" cy="36576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Implemented two forecasting models — </a:t>
            </a:r>
            <a:r>
              <a:rPr lang="en-US" sz="1250" dirty="0">
                <a:solidFill>
                  <a:srgbClr val="5B6B9E"/>
                </a:solidFill>
                <a:latin typeface="Calibri" pitchFamily="34" charset="0"/>
                <a:ea typeface="Calibri" pitchFamily="34" charset="-122"/>
                <a:cs typeface="Calibri" pitchFamily="34" charset="-120"/>
              </a:rPr>
              <a:t>LSTM (TensorFlow/Keras) and DeepAR (GluonTS/PyTorch) — and compared their 7-day forecasts for Cipla Ltd.</a:t>
            </a:r>
            <a:endParaRPr lang="en-US" sz="1250" dirty="0"/>
          </a:p>
        </p:txBody>
      </p:sp>
      <p:sp>
        <p:nvSpPr>
          <p:cNvPr id="15" name="Shape 12"/>
          <p:cNvSpPr/>
          <p:nvPr/>
        </p:nvSpPr>
        <p:spPr>
          <a:xfrm>
            <a:off x="868680" y="4800600"/>
            <a:ext cx="2606040" cy="1051560"/>
          </a:xfrm>
          <a:prstGeom prst="roundRect">
            <a:avLst>
              <a:gd name="adj" fmla="val 6087"/>
            </a:avLst>
          </a:prstGeom>
          <a:solidFill>
            <a:srgbClr val="151C49"/>
          </a:solidFill>
          <a:ln/>
        </p:spPr>
      </p:sp>
      <p:sp>
        <p:nvSpPr>
          <p:cNvPr id="16" name="Text 13"/>
          <p:cNvSpPr/>
          <p:nvPr/>
        </p:nvSpPr>
        <p:spPr>
          <a:xfrm>
            <a:off x="868680" y="4910328"/>
            <a:ext cx="2606040" cy="548640"/>
          </a:xfrm>
          <a:prstGeom prst="rect">
            <a:avLst/>
          </a:prstGeom>
          <a:noFill/>
          <a:ln/>
        </p:spPr>
        <p:txBody>
          <a:bodyPr wrap="square" rtlCol="0" anchor="ctr"/>
          <a:lstStyle/>
          <a:p>
            <a:pPr marL="0" indent="0" algn="ctr">
              <a:buNone/>
            </a:pPr>
            <a:r>
              <a:rPr lang="en-US" sz="2400" b="1" dirty="0">
                <a:solidFill>
                  <a:srgbClr val="00C2A8"/>
                </a:solidFill>
                <a:latin typeface="Cambria" pitchFamily="34" charset="0"/>
                <a:ea typeface="Cambria" pitchFamily="34" charset="-122"/>
                <a:cs typeface="Cambria" pitchFamily="34" charset="-120"/>
              </a:rPr>
              <a:t>2</a:t>
            </a:r>
            <a:endParaRPr lang="en-US" sz="2400" dirty="0"/>
          </a:p>
        </p:txBody>
      </p:sp>
      <p:sp>
        <p:nvSpPr>
          <p:cNvPr id="17" name="Text 14"/>
          <p:cNvSpPr/>
          <p:nvPr/>
        </p:nvSpPr>
        <p:spPr>
          <a:xfrm>
            <a:off x="868680" y="5458968"/>
            <a:ext cx="2606040" cy="320040"/>
          </a:xfrm>
          <a:prstGeom prst="rect">
            <a:avLst/>
          </a:prstGeom>
          <a:noFill/>
          <a:ln/>
        </p:spPr>
        <p:txBody>
          <a:bodyPr wrap="square"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Models Compared</a:t>
            </a:r>
            <a:endParaRPr lang="en-US" sz="1050" dirty="0"/>
          </a:p>
        </p:txBody>
      </p:sp>
      <p:sp>
        <p:nvSpPr>
          <p:cNvPr id="18" name="Shape 15"/>
          <p:cNvSpPr/>
          <p:nvPr/>
        </p:nvSpPr>
        <p:spPr>
          <a:xfrm>
            <a:off x="3657600" y="4800600"/>
            <a:ext cx="2606040" cy="1051560"/>
          </a:xfrm>
          <a:prstGeom prst="roundRect">
            <a:avLst>
              <a:gd name="adj" fmla="val 6087"/>
            </a:avLst>
          </a:prstGeom>
          <a:solidFill>
            <a:srgbClr val="151C49"/>
          </a:solidFill>
          <a:ln/>
        </p:spPr>
      </p:sp>
      <p:sp>
        <p:nvSpPr>
          <p:cNvPr id="19" name="Text 16"/>
          <p:cNvSpPr/>
          <p:nvPr/>
        </p:nvSpPr>
        <p:spPr>
          <a:xfrm>
            <a:off x="3657600" y="4910328"/>
            <a:ext cx="2606040" cy="548640"/>
          </a:xfrm>
          <a:prstGeom prst="rect">
            <a:avLst/>
          </a:prstGeom>
          <a:noFill/>
          <a:ln/>
        </p:spPr>
        <p:txBody>
          <a:bodyPr wrap="square" rtlCol="0" anchor="ctr"/>
          <a:lstStyle/>
          <a:p>
            <a:pPr marL="0" indent="0" algn="ctr">
              <a:buNone/>
            </a:pPr>
            <a:r>
              <a:rPr lang="en-US" sz="2400" b="1" dirty="0">
                <a:solidFill>
                  <a:srgbClr val="00C2A8"/>
                </a:solidFill>
                <a:latin typeface="Cambria" pitchFamily="34" charset="0"/>
                <a:ea typeface="Cambria" pitchFamily="34" charset="-122"/>
                <a:cs typeface="Cambria" pitchFamily="34" charset="-120"/>
              </a:rPr>
              <a:t>7</a:t>
            </a:r>
            <a:endParaRPr lang="en-US" sz="2400" dirty="0"/>
          </a:p>
        </p:txBody>
      </p:sp>
      <p:sp>
        <p:nvSpPr>
          <p:cNvPr id="20" name="Text 17"/>
          <p:cNvSpPr/>
          <p:nvPr/>
        </p:nvSpPr>
        <p:spPr>
          <a:xfrm>
            <a:off x="3657600" y="5458968"/>
            <a:ext cx="2606040" cy="320040"/>
          </a:xfrm>
          <a:prstGeom prst="rect">
            <a:avLst/>
          </a:prstGeom>
          <a:noFill/>
          <a:ln/>
        </p:spPr>
        <p:txBody>
          <a:bodyPr wrap="square"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Day Forecast Horizon</a:t>
            </a:r>
            <a:endParaRPr lang="en-US" sz="1050" dirty="0"/>
          </a:p>
        </p:txBody>
      </p:sp>
      <p:sp>
        <p:nvSpPr>
          <p:cNvPr id="21" name="Shape 18"/>
          <p:cNvSpPr/>
          <p:nvPr/>
        </p:nvSpPr>
        <p:spPr>
          <a:xfrm>
            <a:off x="6446520" y="4800600"/>
            <a:ext cx="2606040" cy="1051560"/>
          </a:xfrm>
          <a:prstGeom prst="roundRect">
            <a:avLst>
              <a:gd name="adj" fmla="val 6087"/>
            </a:avLst>
          </a:prstGeom>
          <a:solidFill>
            <a:srgbClr val="151C49"/>
          </a:solidFill>
          <a:ln/>
        </p:spPr>
      </p:sp>
      <p:sp>
        <p:nvSpPr>
          <p:cNvPr id="22" name="Text 19"/>
          <p:cNvSpPr/>
          <p:nvPr/>
        </p:nvSpPr>
        <p:spPr>
          <a:xfrm>
            <a:off x="6446520" y="4910328"/>
            <a:ext cx="2606040" cy="548640"/>
          </a:xfrm>
          <a:prstGeom prst="rect">
            <a:avLst/>
          </a:prstGeom>
          <a:noFill/>
          <a:ln/>
        </p:spPr>
        <p:txBody>
          <a:bodyPr wrap="square" rtlCol="0" anchor="ctr"/>
          <a:lstStyle/>
          <a:p>
            <a:pPr marL="0" indent="0" algn="ctr">
              <a:buNone/>
            </a:pPr>
            <a:r>
              <a:rPr lang="en-US" sz="2400" b="1" dirty="0">
                <a:solidFill>
                  <a:srgbClr val="00C2A8"/>
                </a:solidFill>
                <a:latin typeface="Cambria" pitchFamily="34" charset="0"/>
                <a:ea typeface="Cambria" pitchFamily="34" charset="-122"/>
                <a:cs typeface="Cambria" pitchFamily="34" charset="-120"/>
              </a:rPr>
              <a:t>86.5%</a:t>
            </a:r>
            <a:endParaRPr lang="en-US" sz="2400" dirty="0"/>
          </a:p>
        </p:txBody>
      </p:sp>
      <p:sp>
        <p:nvSpPr>
          <p:cNvPr id="23" name="Text 20"/>
          <p:cNvSpPr/>
          <p:nvPr/>
        </p:nvSpPr>
        <p:spPr>
          <a:xfrm>
            <a:off x="6446520" y="5458968"/>
            <a:ext cx="2606040" cy="320040"/>
          </a:xfrm>
          <a:prstGeom prst="rect">
            <a:avLst/>
          </a:prstGeom>
          <a:noFill/>
          <a:ln/>
        </p:spPr>
        <p:txBody>
          <a:bodyPr wrap="square"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LSTM R² Score</a:t>
            </a:r>
            <a:endParaRPr lang="en-US" sz="1050" dirty="0"/>
          </a:p>
        </p:txBody>
      </p:sp>
      <p:sp>
        <p:nvSpPr>
          <p:cNvPr id="24" name="Shape 21"/>
          <p:cNvSpPr/>
          <p:nvPr/>
        </p:nvSpPr>
        <p:spPr>
          <a:xfrm>
            <a:off x="9235440" y="4800600"/>
            <a:ext cx="2606040" cy="1051560"/>
          </a:xfrm>
          <a:prstGeom prst="roundRect">
            <a:avLst>
              <a:gd name="adj" fmla="val 6087"/>
            </a:avLst>
          </a:prstGeom>
          <a:solidFill>
            <a:srgbClr val="151C49"/>
          </a:solidFill>
          <a:ln/>
        </p:spPr>
      </p:sp>
      <p:sp>
        <p:nvSpPr>
          <p:cNvPr id="25" name="Text 22"/>
          <p:cNvSpPr/>
          <p:nvPr/>
        </p:nvSpPr>
        <p:spPr>
          <a:xfrm>
            <a:off x="9235440" y="4910328"/>
            <a:ext cx="2606040" cy="548640"/>
          </a:xfrm>
          <a:prstGeom prst="rect">
            <a:avLst/>
          </a:prstGeom>
          <a:noFill/>
          <a:ln/>
        </p:spPr>
        <p:txBody>
          <a:bodyPr wrap="square" rtlCol="0" anchor="ctr"/>
          <a:lstStyle/>
          <a:p>
            <a:pPr marL="0" indent="0" algn="ctr">
              <a:buNone/>
            </a:pPr>
            <a:r>
              <a:rPr lang="en-US" sz="2400" b="1" dirty="0">
                <a:solidFill>
                  <a:srgbClr val="00C2A8"/>
                </a:solidFill>
                <a:latin typeface="Cambria" pitchFamily="34" charset="0"/>
                <a:ea typeface="Cambria" pitchFamily="34" charset="-122"/>
                <a:cs typeface="Cambria" pitchFamily="34" charset="-120"/>
              </a:rPr>
              <a:t>2.00%</a:t>
            </a:r>
            <a:endParaRPr lang="en-US" sz="2400" dirty="0"/>
          </a:p>
        </p:txBody>
      </p:sp>
      <p:sp>
        <p:nvSpPr>
          <p:cNvPr id="26" name="Text 23"/>
          <p:cNvSpPr/>
          <p:nvPr/>
        </p:nvSpPr>
        <p:spPr>
          <a:xfrm>
            <a:off x="9235440" y="5458968"/>
            <a:ext cx="2606040" cy="320040"/>
          </a:xfrm>
          <a:prstGeom prst="rect">
            <a:avLst/>
          </a:prstGeom>
          <a:noFill/>
          <a:ln/>
        </p:spPr>
        <p:txBody>
          <a:bodyPr wrap="square"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LSTM MAPE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1424</TotalTime>
  <Words>1022</Words>
  <Application>Microsoft Office PowerPoint</Application>
  <PresentationFormat>Widescreen</PresentationFormat>
  <Paragraphs>179</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 Price Forecasting of Cipla Ltd. Using LSTM and DeepAR</dc:title>
  <dc:subject>PptxGenJS Presentation</dc:subject>
  <dc:creator>Cipla Forecasting Project</dc:creator>
  <cp:lastModifiedBy>Gopikrishna  Jayan</cp:lastModifiedBy>
  <cp:revision>3</cp:revision>
  <dcterms:created xsi:type="dcterms:W3CDTF">2026-06-28T03:48:21Z</dcterms:created>
  <dcterms:modified xsi:type="dcterms:W3CDTF">2026-06-30T01:28:02Z</dcterms:modified>
</cp:coreProperties>
</file>